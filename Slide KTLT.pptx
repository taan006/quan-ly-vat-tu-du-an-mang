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9" r:id="rId4"/>
    <p:sldId id="260" r:id="rId5"/>
    <p:sldId id="261" r:id="rId6"/>
    <p:sldId id="262" r:id="rId7"/>
    <p:sldId id="263" r:id="rId8"/>
    <p:sldId id="267" r:id="rId9"/>
    <p:sldId id="268" r:id="rId10"/>
    <p:sldId id="269"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5D35"/>
    <a:srgbClr val="1A442E"/>
    <a:srgbClr val="1C5431"/>
    <a:srgbClr val="90C9CA"/>
    <a:srgbClr val="97C2AA"/>
    <a:srgbClr val="55CACC"/>
    <a:srgbClr val="A3E1DC"/>
    <a:srgbClr val="FEC7BE"/>
    <a:srgbClr val="FFC7A3"/>
    <a:srgbClr val="FFFF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458" autoAdjust="0"/>
  </p:normalViewPr>
  <p:slideViewPr>
    <p:cSldViewPr snapToGrid="0">
      <p:cViewPr>
        <p:scale>
          <a:sx n="66" d="100"/>
          <a:sy n="66" d="100"/>
        </p:scale>
        <p:origin x="1330" y="2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E77A1-91B5-434D-83B7-E262B17C57E6}" type="datetimeFigureOut">
              <a:rPr lang="en-US" smtClean="0"/>
              <a:t>10/21/2026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C85F98-0C48-4163-95D7-878BFB5A5B87}" type="slidenum">
              <a:rPr lang="en-US" smtClean="0"/>
              <a:t>‹#›</a:t>
            </a:fld>
            <a:endParaRPr lang="en-US"/>
          </a:p>
        </p:txBody>
      </p:sp>
    </p:spTree>
    <p:extLst>
      <p:ext uri="{BB962C8B-B14F-4D97-AF65-F5344CB8AC3E}">
        <p14:creationId xmlns:p14="http://schemas.microsoft.com/office/powerpoint/2010/main" val="3020948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65C85F98-0C48-4163-95D7-878BFB5A5B87}" type="slidenum">
              <a:rPr lang="en-US" smtClean="0"/>
              <a:t>8</a:t>
            </a:fld>
            <a:endParaRPr lang="en-US"/>
          </a:p>
        </p:txBody>
      </p:sp>
    </p:spTree>
    <p:extLst>
      <p:ext uri="{BB962C8B-B14F-4D97-AF65-F5344CB8AC3E}">
        <p14:creationId xmlns:p14="http://schemas.microsoft.com/office/powerpoint/2010/main" val="2411932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4EFEE61-8485-FCA0-9A4D-79A3B65D3728}"/>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35AA8657-B1AB-CD0E-B0EE-209A48CAB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5DA2B304-8FB7-168F-D56D-61A869819982}"/>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67E24784-7763-036D-F919-6BA37D887DD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45310F3B-0B80-4C45-6CB3-BB00D134F0C4}"/>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2079975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B2D20CE-A921-4BD2-BEB5-04C80BD2BEFD}"/>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EEFBFB6E-2BE7-E8F3-75E9-F46DAEEDA890}"/>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076E2D87-259C-50D0-1060-A8193A049CF2}"/>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02FFCA9A-7C0F-A57C-6151-05BABA904B6E}"/>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48F45446-6088-8924-ECBE-29FC24909ECE}"/>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3021234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3C52ED9-39BD-8693-60DA-58710F01AD08}"/>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1002F327-C805-20C9-B64B-B448CE806C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2832A3E2-88B6-6D6F-1CD4-4DAB5B37D1A4}"/>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D52031FC-4650-9105-E80F-C2803676F0B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0C14520E-64F1-E06A-7BD3-06AEEB4E390C}"/>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3422518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971A3FB-6D20-EB13-DFBC-5EB5DE984A54}"/>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ED425CC-AA9D-C4FC-1055-502C80A02F8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527378F3-BFF8-8130-A649-78889DCC4103}"/>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80DB3D8D-4B06-5517-2856-C0A8F033BFA7}"/>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6" name="Chỗ dành sẵn cho Chân trang 5">
            <a:extLst>
              <a:ext uri="{FF2B5EF4-FFF2-40B4-BE49-F238E27FC236}">
                <a16:creationId xmlns:a16="http://schemas.microsoft.com/office/drawing/2014/main" id="{71185729-0D7C-96FB-5F7C-FCFE2D71EB9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26E1B7D4-DD84-7F7B-06CE-2ADDFAEAF478}"/>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2244000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DAE3F39-9EB2-EE28-C930-8E1B143C6477}"/>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E26108E3-1EC6-45C7-319A-97A2F8DD1A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EA20E15F-2E07-4F15-075B-72D3658631A1}"/>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DBEE85DC-B0B2-A17B-82E2-13303292E1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0DDA89B0-055B-D016-9415-549B589B7762}"/>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35745FF0-2147-FEF3-4824-7AF6CE65EB3C}"/>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8" name="Chỗ dành sẵn cho Chân trang 7">
            <a:extLst>
              <a:ext uri="{FF2B5EF4-FFF2-40B4-BE49-F238E27FC236}">
                <a16:creationId xmlns:a16="http://schemas.microsoft.com/office/drawing/2014/main" id="{A8AEB752-EBBD-2D75-5A64-C42DBAD39C34}"/>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2B77A634-B0DD-56DA-D289-82343173E555}"/>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3254377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3CFBE8F-9A55-D5CE-0AF0-ED0C887255F6}"/>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CFC43E3A-A11F-8E6F-7CB4-3896DC86154C}"/>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4" name="Chỗ dành sẵn cho Chân trang 3">
            <a:extLst>
              <a:ext uri="{FF2B5EF4-FFF2-40B4-BE49-F238E27FC236}">
                <a16:creationId xmlns:a16="http://schemas.microsoft.com/office/drawing/2014/main" id="{E1D68AD9-A2A7-F4D6-9C60-CC65EF42A7FC}"/>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4DA9D44E-F4C2-04AB-9D7E-BAD5F9984E8B}"/>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21423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7816CAE2-904B-BF5C-FB00-8CC23C28AE29}"/>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3" name="Chỗ dành sẵn cho Chân trang 2">
            <a:extLst>
              <a:ext uri="{FF2B5EF4-FFF2-40B4-BE49-F238E27FC236}">
                <a16:creationId xmlns:a16="http://schemas.microsoft.com/office/drawing/2014/main" id="{72E02EF6-0F26-0BE2-5992-C2B0D4EDE35C}"/>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4617417B-0432-BF88-4D7F-F11F566A8CBA}"/>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3457527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8659778-32E8-0E31-56CE-8A24EFB61991}"/>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D6DCCF9-32C3-1C2A-B6C7-934349F41D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215A00C0-A84B-4C88-9CFD-A33DAD48E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43BF9C57-5A09-9B39-07A5-3845E1769177}"/>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6" name="Chỗ dành sẵn cho Chân trang 5">
            <a:extLst>
              <a:ext uri="{FF2B5EF4-FFF2-40B4-BE49-F238E27FC236}">
                <a16:creationId xmlns:a16="http://schemas.microsoft.com/office/drawing/2014/main" id="{494AC1B2-79E7-A1F3-C6FB-14D527E5694D}"/>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0C56426B-66B0-677F-49F6-18A73AC7E493}"/>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2541830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D4395E2-391D-B3FE-EF23-9CC9781CF76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58E8F8E6-2D10-5CA1-D374-7BB75F37704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0B0A7FCE-DF42-B3F7-307F-F322D62D7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1865287C-8E30-F1A0-CB03-8447B546B19E}"/>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6" name="Chỗ dành sẵn cho Chân trang 5">
            <a:extLst>
              <a:ext uri="{FF2B5EF4-FFF2-40B4-BE49-F238E27FC236}">
                <a16:creationId xmlns:a16="http://schemas.microsoft.com/office/drawing/2014/main" id="{16158F6B-36E5-6C98-0783-C2E39D56CBDB}"/>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7D4FF949-F804-BFA2-661D-05E733A7C24C}"/>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824961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6F7F2E6-D26E-2ED1-A0E0-E7C4B6BA012E}"/>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C15162AA-EDB9-D28D-0978-D4DD1323F7A2}"/>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3819239B-E8F4-94FD-2CB2-DB8ED46E54E7}"/>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199D4DE7-CCEE-258A-3ED8-82059751E6B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8A2247CB-5348-1717-D2EE-A4E988EAEB24}"/>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3878787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76021350-5577-E90B-4740-E009B28EB249}"/>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2D668226-FDDD-E2D1-649E-60AF889055F9}"/>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F59B5FD8-E817-5053-2561-FAD44F23F64B}"/>
              </a:ext>
            </a:extLst>
          </p:cNvPr>
          <p:cNvSpPr>
            <a:spLocks noGrp="1"/>
          </p:cNvSpPr>
          <p:nvPr>
            <p:ph type="dt" sz="half" idx="10"/>
          </p:nvPr>
        </p:nvSpPr>
        <p:spPr/>
        <p:txBody>
          <a:body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F64DC924-759E-0D7D-811F-B29DDC54A2E3}"/>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87FCEE62-23BF-9051-6037-440C3F75FD4A}"/>
              </a:ext>
            </a:extLst>
          </p:cNvPr>
          <p:cNvSpPr>
            <a:spLocks noGrp="1"/>
          </p:cNvSpPr>
          <p:nvPr>
            <p:ph type="sldNum" sz="quarter" idx="12"/>
          </p:nvPr>
        </p:nvSpPr>
        <p:spPr/>
        <p:txBody>
          <a:bodyPr/>
          <a:lstStyle/>
          <a:p>
            <a:fld id="{F0826816-577A-4DF5-AC9F-6C8487644963}" type="slidenum">
              <a:rPr lang="en-US" smtClean="0"/>
              <a:t>‹#›</a:t>
            </a:fld>
            <a:endParaRPr lang="en-US"/>
          </a:p>
        </p:txBody>
      </p:sp>
    </p:spTree>
    <p:extLst>
      <p:ext uri="{BB962C8B-B14F-4D97-AF65-F5344CB8AC3E}">
        <p14:creationId xmlns:p14="http://schemas.microsoft.com/office/powerpoint/2010/main" val="226699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5AF8F933-D17E-49E8-86A6-62FF671C01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EE6B18CC-3248-C2D6-05C3-58119131D0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6C5C405C-4AAC-87BB-92A0-151F1C79F7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DF0331-D321-4872-A9B0-662547A48876}" type="datetimeFigureOut">
              <a:rPr lang="en-US" smtClean="0"/>
              <a:t>10/21/2026</a:t>
            </a:fld>
            <a:endParaRPr lang="en-US"/>
          </a:p>
        </p:txBody>
      </p:sp>
      <p:sp>
        <p:nvSpPr>
          <p:cNvPr id="5" name="Chỗ dành sẵn cho Chân trang 4">
            <a:extLst>
              <a:ext uri="{FF2B5EF4-FFF2-40B4-BE49-F238E27FC236}">
                <a16:creationId xmlns:a16="http://schemas.microsoft.com/office/drawing/2014/main" id="{FB02F261-6BC4-8A6D-7DEF-EB28C6004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22F48FBD-9FE4-2C8F-3EB8-DE91F3C9B7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826816-577A-4DF5-AC9F-6C8487644963}" type="slidenum">
              <a:rPr lang="en-US" smtClean="0"/>
              <a:t>‹#›</a:t>
            </a:fld>
            <a:endParaRPr lang="en-US"/>
          </a:p>
        </p:txBody>
      </p:sp>
    </p:spTree>
    <p:extLst>
      <p:ext uri="{BB962C8B-B14F-4D97-AF65-F5344CB8AC3E}">
        <p14:creationId xmlns:p14="http://schemas.microsoft.com/office/powerpoint/2010/main" val="3219151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nh chữ nhật: Góc Tròn 5">
            <a:extLst>
              <a:ext uri="{FF2B5EF4-FFF2-40B4-BE49-F238E27FC236}">
                <a16:creationId xmlns:a16="http://schemas.microsoft.com/office/drawing/2014/main" id="{958A329C-8679-4849-EC4A-1E89C1AED18D}"/>
              </a:ext>
            </a:extLst>
          </p:cNvPr>
          <p:cNvSpPr/>
          <p:nvPr/>
        </p:nvSpPr>
        <p:spPr>
          <a:xfrm>
            <a:off x="-68826" y="0"/>
            <a:ext cx="14530584" cy="7646542"/>
          </a:xfrm>
          <a:prstGeom prst="roundRect">
            <a:avLst/>
          </a:prstGeom>
          <a:solidFill>
            <a:srgbClr val="EE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ình chữ nhật 11">
            <a:extLst>
              <a:ext uri="{FF2B5EF4-FFF2-40B4-BE49-F238E27FC236}">
                <a16:creationId xmlns:a16="http://schemas.microsoft.com/office/drawing/2014/main" id="{3D13D62B-9339-85F9-0105-4FF15BFB4109}"/>
              </a:ext>
            </a:extLst>
          </p:cNvPr>
          <p:cNvSpPr/>
          <p:nvPr/>
        </p:nvSpPr>
        <p:spPr>
          <a:xfrm>
            <a:off x="-186813" y="0"/>
            <a:ext cx="15220709" cy="2631005"/>
          </a:xfrm>
          <a:prstGeom prst="rect">
            <a:avLst/>
          </a:prstGeom>
          <a:solidFill>
            <a:srgbClr val="EDE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ộp Văn bản 13">
            <a:extLst>
              <a:ext uri="{FF2B5EF4-FFF2-40B4-BE49-F238E27FC236}">
                <a16:creationId xmlns:a16="http://schemas.microsoft.com/office/drawing/2014/main" id="{E838F7AC-5ABA-25D4-8885-D959B5AF2F63}"/>
              </a:ext>
            </a:extLst>
          </p:cNvPr>
          <p:cNvSpPr txBox="1"/>
          <p:nvPr/>
        </p:nvSpPr>
        <p:spPr>
          <a:xfrm>
            <a:off x="1782980" y="3017881"/>
            <a:ext cx="11654747" cy="1846659"/>
          </a:xfrm>
          <a:prstGeom prst="rect">
            <a:avLst/>
          </a:prstGeom>
          <a:noFill/>
        </p:spPr>
        <p:txBody>
          <a:bodyPr wrap="square" rtlCol="0">
            <a:spAutoFit/>
          </a:bodyPr>
          <a:lstStyle/>
          <a:p>
            <a:r>
              <a:rPr lang="en-US" sz="4800">
                <a:latin typeface="Aptos Black" panose="020B0004020202020204" pitchFamily="34" charset="0"/>
              </a:rPr>
              <a:t>Quản lý vật tư </a:t>
            </a:r>
          </a:p>
          <a:p>
            <a:r>
              <a:rPr lang="en-US" sz="4800">
                <a:latin typeface="Aptos Black" panose="020B0004020202020204" pitchFamily="34" charset="0"/>
              </a:rPr>
              <a:t>                          dự án triển khai mạng</a:t>
            </a:r>
          </a:p>
          <a:p>
            <a:endParaRPr lang="en-US"/>
          </a:p>
        </p:txBody>
      </p:sp>
      <p:sp>
        <p:nvSpPr>
          <p:cNvPr id="22" name="Hộp Văn bản 21">
            <a:extLst>
              <a:ext uri="{FF2B5EF4-FFF2-40B4-BE49-F238E27FC236}">
                <a16:creationId xmlns:a16="http://schemas.microsoft.com/office/drawing/2014/main" id="{B33DE0E0-C7ED-4DA6-7DD6-E6728F9456D9}"/>
              </a:ext>
            </a:extLst>
          </p:cNvPr>
          <p:cNvSpPr txBox="1"/>
          <p:nvPr/>
        </p:nvSpPr>
        <p:spPr>
          <a:xfrm>
            <a:off x="5007861" y="838724"/>
            <a:ext cx="3842795" cy="830997"/>
          </a:xfrm>
          <a:prstGeom prst="rect">
            <a:avLst/>
          </a:prstGeom>
          <a:noFill/>
        </p:spPr>
        <p:txBody>
          <a:bodyPr wrap="square" rtlCol="0">
            <a:spAutoFit/>
          </a:bodyPr>
          <a:lstStyle/>
          <a:p>
            <a:r>
              <a:rPr lang="en-US" sz="4800">
                <a:latin typeface="Aptos Black" panose="020B0004020202020204" pitchFamily="34" charset="0"/>
              </a:rPr>
              <a:t>Nhóm 2</a:t>
            </a:r>
          </a:p>
        </p:txBody>
      </p:sp>
      <p:sp>
        <p:nvSpPr>
          <p:cNvPr id="24" name="Hộp Văn bản 23">
            <a:extLst>
              <a:ext uri="{FF2B5EF4-FFF2-40B4-BE49-F238E27FC236}">
                <a16:creationId xmlns:a16="http://schemas.microsoft.com/office/drawing/2014/main" id="{3A3090A5-EB0F-6A95-C3EA-6B3B71F2B3EA}"/>
              </a:ext>
            </a:extLst>
          </p:cNvPr>
          <p:cNvSpPr txBox="1"/>
          <p:nvPr/>
        </p:nvSpPr>
        <p:spPr>
          <a:xfrm>
            <a:off x="416695" y="5080143"/>
            <a:ext cx="5679305" cy="338554"/>
          </a:xfrm>
          <a:prstGeom prst="rect">
            <a:avLst/>
          </a:prstGeom>
          <a:noFill/>
        </p:spPr>
        <p:txBody>
          <a:bodyPr wrap="square">
            <a:spAutoFit/>
          </a:bodyPr>
          <a:lstStyle/>
          <a:p>
            <a:r>
              <a:rPr lang="en-US" sz="1600" b="0" i="0" spc="15">
                <a:solidFill>
                  <a:schemeClr val="tx1"/>
                </a:solidFill>
                <a:effectLst/>
                <a:latin typeface="+mn-lt"/>
              </a:rPr>
              <a:t>Bối cảnh: Khó khăn trong công tác quản lý, kiểm kê</a:t>
            </a:r>
            <a:endParaRPr lang="en-US" sz="1600"/>
          </a:p>
        </p:txBody>
      </p:sp>
      <p:sp>
        <p:nvSpPr>
          <p:cNvPr id="26" name="Hộp Văn bản 25">
            <a:extLst>
              <a:ext uri="{FF2B5EF4-FFF2-40B4-BE49-F238E27FC236}">
                <a16:creationId xmlns:a16="http://schemas.microsoft.com/office/drawing/2014/main" id="{FE3D598B-3575-7868-8370-973FF674B8DD}"/>
              </a:ext>
            </a:extLst>
          </p:cNvPr>
          <p:cNvSpPr txBox="1"/>
          <p:nvPr/>
        </p:nvSpPr>
        <p:spPr>
          <a:xfrm>
            <a:off x="416695" y="5473255"/>
            <a:ext cx="7753911" cy="584775"/>
          </a:xfrm>
          <a:prstGeom prst="rect">
            <a:avLst/>
          </a:prstGeom>
          <a:noFill/>
        </p:spPr>
        <p:txBody>
          <a:bodyPr wrap="square" rtlCol="0">
            <a:spAutoFit/>
          </a:bodyPr>
          <a:lstStyle/>
          <a:p>
            <a:r>
              <a:rPr lang="en-US" sz="1600"/>
              <a:t>Mục tiêu: áp dụng lĩnh vực công nghệ số, thay thế việc quản lý số liệu bằng giấy tờ rễ gây ra thất thoát và sai sót trong quá trình truy thi và quản lý.</a:t>
            </a:r>
          </a:p>
        </p:txBody>
      </p:sp>
    </p:spTree>
    <p:extLst>
      <p:ext uri="{BB962C8B-B14F-4D97-AF65-F5344CB8AC3E}">
        <p14:creationId xmlns:p14="http://schemas.microsoft.com/office/powerpoint/2010/main" val="190120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4" grpId="0"/>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B586-3EDE-23E8-F747-A8E70E9D6E85}"/>
            </a:ext>
          </a:extLst>
        </p:cNvPr>
        <p:cNvGrpSpPr/>
        <p:nvPr/>
      </p:nvGrpSpPr>
      <p:grpSpPr>
        <a:xfrm>
          <a:off x="0" y="0"/>
          <a:ext cx="0" cy="0"/>
          <a:chOff x="0" y="0"/>
          <a:chExt cx="0" cy="0"/>
        </a:xfrm>
      </p:grpSpPr>
      <p:graphicFrame>
        <p:nvGraphicFramePr>
          <p:cNvPr id="18" name="Bảng 17">
            <a:extLst>
              <a:ext uri="{FF2B5EF4-FFF2-40B4-BE49-F238E27FC236}">
                <a16:creationId xmlns:a16="http://schemas.microsoft.com/office/drawing/2014/main" id="{73E23170-A8BC-28FC-5304-01EA59058103}"/>
              </a:ext>
            </a:extLst>
          </p:cNvPr>
          <p:cNvGraphicFramePr>
            <a:graphicFrameLocks noGrp="1"/>
          </p:cNvGraphicFramePr>
          <p:nvPr>
            <p:extLst>
              <p:ext uri="{D42A27DB-BD31-4B8C-83A1-F6EECF244321}">
                <p14:modId xmlns:p14="http://schemas.microsoft.com/office/powerpoint/2010/main" val="3791722562"/>
              </p:ext>
            </p:extLst>
          </p:nvPr>
        </p:nvGraphicFramePr>
        <p:xfrm>
          <a:off x="788302" y="1516284"/>
          <a:ext cx="10615395" cy="4465927"/>
        </p:xfrm>
        <a:graphic>
          <a:graphicData uri="http://schemas.openxmlformats.org/drawingml/2006/table">
            <a:tbl>
              <a:tblPr firstRow="1" bandRow="1">
                <a:tableStyleId>{5C22544A-7EE6-4342-B048-85BDC9FD1C3A}</a:tableStyleId>
              </a:tblPr>
              <a:tblGrid>
                <a:gridCol w="2025748">
                  <a:extLst>
                    <a:ext uri="{9D8B030D-6E8A-4147-A177-3AD203B41FA5}">
                      <a16:colId xmlns:a16="http://schemas.microsoft.com/office/drawing/2014/main" val="1272863285"/>
                    </a:ext>
                  </a:extLst>
                </a:gridCol>
                <a:gridCol w="2025748">
                  <a:extLst>
                    <a:ext uri="{9D8B030D-6E8A-4147-A177-3AD203B41FA5}">
                      <a16:colId xmlns:a16="http://schemas.microsoft.com/office/drawing/2014/main" val="2572267271"/>
                    </a:ext>
                  </a:extLst>
                </a:gridCol>
                <a:gridCol w="2025748">
                  <a:extLst>
                    <a:ext uri="{9D8B030D-6E8A-4147-A177-3AD203B41FA5}">
                      <a16:colId xmlns:a16="http://schemas.microsoft.com/office/drawing/2014/main" val="366934107"/>
                    </a:ext>
                  </a:extLst>
                </a:gridCol>
                <a:gridCol w="2338961">
                  <a:extLst>
                    <a:ext uri="{9D8B030D-6E8A-4147-A177-3AD203B41FA5}">
                      <a16:colId xmlns:a16="http://schemas.microsoft.com/office/drawing/2014/main" val="4025944469"/>
                    </a:ext>
                  </a:extLst>
                </a:gridCol>
                <a:gridCol w="2199190">
                  <a:extLst>
                    <a:ext uri="{9D8B030D-6E8A-4147-A177-3AD203B41FA5}">
                      <a16:colId xmlns:a16="http://schemas.microsoft.com/office/drawing/2014/main" val="2129264823"/>
                    </a:ext>
                  </a:extLst>
                </a:gridCol>
              </a:tblGrid>
              <a:tr h="14852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Lê Hồng Phú</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Trương Minh Tuấn</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Dương Đức Tân</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Nguyễn Xuân Thanh</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Nguyễn Văn Tạo</a:t>
                      </a:r>
                    </a:p>
                    <a:p>
                      <a:endParaRPr lang="en-US"/>
                    </a:p>
                  </a:txBody>
                  <a:tcPr/>
                </a:tc>
                <a:extLst>
                  <a:ext uri="{0D108BD9-81ED-4DB2-BD59-A6C34878D82A}">
                    <a16:rowId xmlns:a16="http://schemas.microsoft.com/office/drawing/2014/main" val="2653041442"/>
                  </a:ext>
                </a:extLst>
              </a:tr>
              <a:tr h="1490349">
                <a:tc>
                  <a:txBody>
                    <a:bodyPr/>
                    <a:lstStyle/>
                    <a:p>
                      <a:pPr algn="ctr"/>
                      <a:r>
                        <a:rPr lang="en-US" b="1"/>
                        <a:t>UC</a:t>
                      </a:r>
                      <a:r>
                        <a:rPr lang="en-US"/>
                        <a:t>1:Vật tư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3:Dự án</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5: Phiếu nhiệm thu</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7: HĐ xuất</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9: Phiếu nhập kho</a:t>
                      </a:r>
                    </a:p>
                    <a:p>
                      <a:endParaRPr lang="en-US"/>
                    </a:p>
                  </a:txBody>
                  <a:tcPr/>
                </a:tc>
                <a:extLst>
                  <a:ext uri="{0D108BD9-81ED-4DB2-BD59-A6C34878D82A}">
                    <a16:rowId xmlns:a16="http://schemas.microsoft.com/office/drawing/2014/main" val="2903578263"/>
                  </a:ext>
                </a:extLst>
              </a:tr>
              <a:tr h="14903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2: Nhà cung cấp</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4: Đội thi công</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6: Hóa đơn nhập</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8: HĐ nhân công</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UC</a:t>
                      </a:r>
                      <a:r>
                        <a:rPr lang="en-US"/>
                        <a:t>10: Phiếu xuất kho</a:t>
                      </a:r>
                    </a:p>
                    <a:p>
                      <a:endParaRPr lang="en-US"/>
                    </a:p>
                  </a:txBody>
                  <a:tcPr/>
                </a:tc>
                <a:extLst>
                  <a:ext uri="{0D108BD9-81ED-4DB2-BD59-A6C34878D82A}">
                    <a16:rowId xmlns:a16="http://schemas.microsoft.com/office/drawing/2014/main" val="2415434060"/>
                  </a:ext>
                </a:extLst>
              </a:tr>
            </a:tbl>
          </a:graphicData>
        </a:graphic>
      </p:graphicFrame>
      <p:sp>
        <p:nvSpPr>
          <p:cNvPr id="19" name="Hộp Văn bản 18">
            <a:extLst>
              <a:ext uri="{FF2B5EF4-FFF2-40B4-BE49-F238E27FC236}">
                <a16:creationId xmlns:a16="http://schemas.microsoft.com/office/drawing/2014/main" id="{20E8FDD2-FDED-FDA2-A957-ABA2869B501A}"/>
              </a:ext>
            </a:extLst>
          </p:cNvPr>
          <p:cNvSpPr txBox="1"/>
          <p:nvPr/>
        </p:nvSpPr>
        <p:spPr>
          <a:xfrm>
            <a:off x="1570891" y="337804"/>
            <a:ext cx="8042031" cy="523220"/>
          </a:xfrm>
          <a:prstGeom prst="rect">
            <a:avLst/>
          </a:prstGeom>
          <a:noFill/>
        </p:spPr>
        <p:txBody>
          <a:bodyPr wrap="square" rtlCol="0">
            <a:spAutoFit/>
          </a:bodyPr>
          <a:lstStyle/>
          <a:p>
            <a:pPr algn="ctr"/>
            <a:r>
              <a:rPr lang="en-US" sz="2800" b="1"/>
              <a:t>Giảng viên hướng dẫn: </a:t>
            </a:r>
            <a:r>
              <a:rPr lang="en-US" sz="2800" b="1" u="sng"/>
              <a:t>Nguyễn Hữu Cầm</a:t>
            </a:r>
          </a:p>
        </p:txBody>
      </p:sp>
    </p:spTree>
    <p:extLst>
      <p:ext uri="{BB962C8B-B14F-4D97-AF65-F5344CB8AC3E}">
        <p14:creationId xmlns:p14="http://schemas.microsoft.com/office/powerpoint/2010/main" val="83090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ình Bầu dục 3">
            <a:extLst>
              <a:ext uri="{FF2B5EF4-FFF2-40B4-BE49-F238E27FC236}">
                <a16:creationId xmlns:a16="http://schemas.microsoft.com/office/drawing/2014/main" id="{DAFF924D-A7B5-BBD0-8C25-9E1FDCB585BD}"/>
              </a:ext>
            </a:extLst>
          </p:cNvPr>
          <p:cNvSpPr/>
          <p:nvPr/>
        </p:nvSpPr>
        <p:spPr>
          <a:xfrm>
            <a:off x="4793225" y="705465"/>
            <a:ext cx="2625213" cy="174030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Entity</a:t>
            </a:r>
          </a:p>
          <a:p>
            <a:pPr algn="ctr"/>
            <a:r>
              <a:rPr lang="en-US"/>
              <a:t>(lớp trừu tượng) </a:t>
            </a:r>
          </a:p>
        </p:txBody>
      </p:sp>
      <p:sp>
        <p:nvSpPr>
          <p:cNvPr id="5" name="Hình chữ nhật: Góc Tròn 4">
            <a:extLst>
              <a:ext uri="{FF2B5EF4-FFF2-40B4-BE49-F238E27FC236}">
                <a16:creationId xmlns:a16="http://schemas.microsoft.com/office/drawing/2014/main" id="{EC9DEA35-3FF6-ECF0-8242-D1518A17F73F}"/>
              </a:ext>
            </a:extLst>
          </p:cNvPr>
          <p:cNvSpPr/>
          <p:nvPr/>
        </p:nvSpPr>
        <p:spPr>
          <a:xfrm>
            <a:off x="146488" y="2556388"/>
            <a:ext cx="1651819" cy="19664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Nhập</a:t>
            </a:r>
          </a:p>
        </p:txBody>
      </p:sp>
      <p:sp>
        <p:nvSpPr>
          <p:cNvPr id="6" name="Hình chữ nhật: Góc Tròn 5">
            <a:extLst>
              <a:ext uri="{FF2B5EF4-FFF2-40B4-BE49-F238E27FC236}">
                <a16:creationId xmlns:a16="http://schemas.microsoft.com/office/drawing/2014/main" id="{A997875D-EC71-87B8-F22B-865FC5CFC237}"/>
              </a:ext>
            </a:extLst>
          </p:cNvPr>
          <p:cNvSpPr/>
          <p:nvPr/>
        </p:nvSpPr>
        <p:spPr>
          <a:xfrm>
            <a:off x="2399074" y="3947651"/>
            <a:ext cx="1651819" cy="19664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Xuất</a:t>
            </a:r>
          </a:p>
        </p:txBody>
      </p:sp>
      <p:sp>
        <p:nvSpPr>
          <p:cNvPr id="7" name="Hình chữ nhật: Góc Tròn 6">
            <a:extLst>
              <a:ext uri="{FF2B5EF4-FFF2-40B4-BE49-F238E27FC236}">
                <a16:creationId xmlns:a16="http://schemas.microsoft.com/office/drawing/2014/main" id="{C1A0BBCF-BCD1-3968-45C7-34E101B95243}"/>
              </a:ext>
            </a:extLst>
          </p:cNvPr>
          <p:cNvSpPr/>
          <p:nvPr/>
        </p:nvSpPr>
        <p:spPr>
          <a:xfrm>
            <a:off x="4891545" y="4719483"/>
            <a:ext cx="1651819" cy="19664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Cập nhật</a:t>
            </a:r>
          </a:p>
        </p:txBody>
      </p:sp>
      <p:sp>
        <p:nvSpPr>
          <p:cNvPr id="8" name="Hình chữ nhật: Góc Tròn 7">
            <a:extLst>
              <a:ext uri="{FF2B5EF4-FFF2-40B4-BE49-F238E27FC236}">
                <a16:creationId xmlns:a16="http://schemas.microsoft.com/office/drawing/2014/main" id="{B674255B-E7C7-A9A4-6F37-A59E1D5057E8}"/>
              </a:ext>
            </a:extLst>
          </p:cNvPr>
          <p:cNvSpPr/>
          <p:nvPr/>
        </p:nvSpPr>
        <p:spPr>
          <a:xfrm>
            <a:off x="10274710" y="2153265"/>
            <a:ext cx="1651819" cy="19664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fromFile</a:t>
            </a:r>
          </a:p>
        </p:txBody>
      </p:sp>
      <p:sp>
        <p:nvSpPr>
          <p:cNvPr id="9" name="Hình chữ nhật: Góc Tròn 8">
            <a:extLst>
              <a:ext uri="{FF2B5EF4-FFF2-40B4-BE49-F238E27FC236}">
                <a16:creationId xmlns:a16="http://schemas.microsoft.com/office/drawing/2014/main" id="{9DBF8172-2F95-F8B2-43CC-0663036DCBD3}"/>
              </a:ext>
            </a:extLst>
          </p:cNvPr>
          <p:cNvSpPr/>
          <p:nvPr/>
        </p:nvSpPr>
        <p:spPr>
          <a:xfrm>
            <a:off x="8386916" y="3736258"/>
            <a:ext cx="1651819" cy="19664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toFile</a:t>
            </a:r>
          </a:p>
        </p:txBody>
      </p:sp>
      <p:cxnSp>
        <p:nvCxnSpPr>
          <p:cNvPr id="11" name="Đường kết nối Mũi tên Thẳng 10">
            <a:extLst>
              <a:ext uri="{FF2B5EF4-FFF2-40B4-BE49-F238E27FC236}">
                <a16:creationId xmlns:a16="http://schemas.microsoft.com/office/drawing/2014/main" id="{16A8FA7C-9E0C-C81D-3C52-8E79353F1912}"/>
              </a:ext>
            </a:extLst>
          </p:cNvPr>
          <p:cNvCxnSpPr>
            <a:stCxn id="4" idx="2"/>
          </p:cNvCxnSpPr>
          <p:nvPr/>
        </p:nvCxnSpPr>
        <p:spPr>
          <a:xfrm flipH="1">
            <a:off x="2182761" y="1575620"/>
            <a:ext cx="2610464" cy="1069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Đường kết nối Mũi tên Thẳng 12">
            <a:extLst>
              <a:ext uri="{FF2B5EF4-FFF2-40B4-BE49-F238E27FC236}">
                <a16:creationId xmlns:a16="http://schemas.microsoft.com/office/drawing/2014/main" id="{9788CD68-6AE9-FD7E-5E79-3F523FF89FD3}"/>
              </a:ext>
            </a:extLst>
          </p:cNvPr>
          <p:cNvCxnSpPr>
            <a:stCxn id="4" idx="3"/>
          </p:cNvCxnSpPr>
          <p:nvPr/>
        </p:nvCxnSpPr>
        <p:spPr>
          <a:xfrm flipH="1">
            <a:off x="3598606" y="2190912"/>
            <a:ext cx="1579073" cy="15453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Đường kết nối Mũi tên Thẳng 14">
            <a:extLst>
              <a:ext uri="{FF2B5EF4-FFF2-40B4-BE49-F238E27FC236}">
                <a16:creationId xmlns:a16="http://schemas.microsoft.com/office/drawing/2014/main" id="{3D4D1AAC-60A1-CD93-05A4-000EFB9D5B0E}"/>
              </a:ext>
            </a:extLst>
          </p:cNvPr>
          <p:cNvCxnSpPr>
            <a:cxnSpLocks/>
            <a:stCxn id="4" idx="4"/>
          </p:cNvCxnSpPr>
          <p:nvPr/>
        </p:nvCxnSpPr>
        <p:spPr>
          <a:xfrm flipH="1">
            <a:off x="5845215" y="2445774"/>
            <a:ext cx="260617" cy="2172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Đường kết nối Mũi tên Thẳng 16">
            <a:extLst>
              <a:ext uri="{FF2B5EF4-FFF2-40B4-BE49-F238E27FC236}">
                <a16:creationId xmlns:a16="http://schemas.microsoft.com/office/drawing/2014/main" id="{B0F73DBF-95D4-2791-14A3-FF906AADC743}"/>
              </a:ext>
            </a:extLst>
          </p:cNvPr>
          <p:cNvCxnSpPr>
            <a:cxnSpLocks/>
            <a:stCxn id="4" idx="5"/>
          </p:cNvCxnSpPr>
          <p:nvPr/>
        </p:nvCxnSpPr>
        <p:spPr>
          <a:xfrm>
            <a:off x="7033984" y="2190912"/>
            <a:ext cx="1441422" cy="14150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Đường kết nối Mũi tên Thẳng 18">
            <a:extLst>
              <a:ext uri="{FF2B5EF4-FFF2-40B4-BE49-F238E27FC236}">
                <a16:creationId xmlns:a16="http://schemas.microsoft.com/office/drawing/2014/main" id="{A93752B2-3C7A-C352-E77D-26B4C432908B}"/>
              </a:ext>
            </a:extLst>
          </p:cNvPr>
          <p:cNvCxnSpPr>
            <a:stCxn id="4" idx="6"/>
          </p:cNvCxnSpPr>
          <p:nvPr/>
        </p:nvCxnSpPr>
        <p:spPr>
          <a:xfrm>
            <a:off x="7418438" y="1575620"/>
            <a:ext cx="2620297" cy="1000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084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ình Bầu dục 3">
            <a:extLst>
              <a:ext uri="{FF2B5EF4-FFF2-40B4-BE49-F238E27FC236}">
                <a16:creationId xmlns:a16="http://schemas.microsoft.com/office/drawing/2014/main" id="{85082DD3-989B-71E4-9D7E-C002791888EF}"/>
              </a:ext>
            </a:extLst>
          </p:cNvPr>
          <p:cNvSpPr/>
          <p:nvPr/>
        </p:nvSpPr>
        <p:spPr>
          <a:xfrm>
            <a:off x="4434346" y="147484"/>
            <a:ext cx="2910349" cy="197628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Entity :Nhap, xuat, Capnhat, toFile, fromFile</a:t>
            </a:r>
          </a:p>
        </p:txBody>
      </p:sp>
      <p:sp>
        <p:nvSpPr>
          <p:cNvPr id="9" name="Hình chữ nhật: Góc Tròn 8">
            <a:extLst>
              <a:ext uri="{FF2B5EF4-FFF2-40B4-BE49-F238E27FC236}">
                <a16:creationId xmlns:a16="http://schemas.microsoft.com/office/drawing/2014/main" id="{F87F1A1E-F4A6-F6F4-1D6B-C6EF29A6C87E}"/>
              </a:ext>
            </a:extLst>
          </p:cNvPr>
          <p:cNvSpPr/>
          <p:nvPr/>
        </p:nvSpPr>
        <p:spPr>
          <a:xfrm>
            <a:off x="188040" y="707922"/>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Vật tư</a:t>
            </a:r>
          </a:p>
        </p:txBody>
      </p:sp>
      <p:sp>
        <p:nvSpPr>
          <p:cNvPr id="12" name="Hình chữ nhật: Góc Tròn 11">
            <a:extLst>
              <a:ext uri="{FF2B5EF4-FFF2-40B4-BE49-F238E27FC236}">
                <a16:creationId xmlns:a16="http://schemas.microsoft.com/office/drawing/2014/main" id="{7FE8A5BC-745B-6B31-B8B0-9CDBF93216AD}"/>
              </a:ext>
            </a:extLst>
          </p:cNvPr>
          <p:cNvSpPr/>
          <p:nvPr/>
        </p:nvSpPr>
        <p:spPr>
          <a:xfrm>
            <a:off x="4503174" y="4532670"/>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Đội thi công</a:t>
            </a:r>
          </a:p>
        </p:txBody>
      </p:sp>
      <p:sp>
        <p:nvSpPr>
          <p:cNvPr id="13" name="Hình chữ nhật: Góc Tròn 12">
            <a:extLst>
              <a:ext uri="{FF2B5EF4-FFF2-40B4-BE49-F238E27FC236}">
                <a16:creationId xmlns:a16="http://schemas.microsoft.com/office/drawing/2014/main" id="{0C4389EE-090C-A9F2-08C5-9B68492DB04A}"/>
              </a:ext>
            </a:extLst>
          </p:cNvPr>
          <p:cNvSpPr/>
          <p:nvPr/>
        </p:nvSpPr>
        <p:spPr>
          <a:xfrm>
            <a:off x="2373000" y="4478594"/>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Dự án </a:t>
            </a:r>
          </a:p>
        </p:txBody>
      </p:sp>
      <p:sp>
        <p:nvSpPr>
          <p:cNvPr id="14" name="Hình chữ nhật: Góc Tròn 13">
            <a:extLst>
              <a:ext uri="{FF2B5EF4-FFF2-40B4-BE49-F238E27FC236}">
                <a16:creationId xmlns:a16="http://schemas.microsoft.com/office/drawing/2014/main" id="{EE2BF368-53A2-D5AC-4880-069D24172E4D}"/>
              </a:ext>
            </a:extLst>
          </p:cNvPr>
          <p:cNvSpPr/>
          <p:nvPr/>
        </p:nvSpPr>
        <p:spPr>
          <a:xfrm>
            <a:off x="8989093" y="2379406"/>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Phiếu kho</a:t>
            </a:r>
          </a:p>
        </p:txBody>
      </p:sp>
      <p:sp>
        <p:nvSpPr>
          <p:cNvPr id="15" name="Hình chữ nhật: Góc Tròn 14">
            <a:extLst>
              <a:ext uri="{FF2B5EF4-FFF2-40B4-BE49-F238E27FC236}">
                <a16:creationId xmlns:a16="http://schemas.microsoft.com/office/drawing/2014/main" id="{785366FF-594D-4D85-1B12-45BB97B75FBC}"/>
              </a:ext>
            </a:extLst>
          </p:cNvPr>
          <p:cNvSpPr/>
          <p:nvPr/>
        </p:nvSpPr>
        <p:spPr>
          <a:xfrm>
            <a:off x="6918484" y="4601497"/>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Phiếu nhiệm thu</a:t>
            </a:r>
          </a:p>
        </p:txBody>
      </p:sp>
      <p:sp>
        <p:nvSpPr>
          <p:cNvPr id="16" name="Hình chữ nhật: Góc Tròn 15">
            <a:extLst>
              <a:ext uri="{FF2B5EF4-FFF2-40B4-BE49-F238E27FC236}">
                <a16:creationId xmlns:a16="http://schemas.microsoft.com/office/drawing/2014/main" id="{0A6713B3-DF2A-0263-E2FF-4AF2AC04344B}"/>
              </a:ext>
            </a:extLst>
          </p:cNvPr>
          <p:cNvSpPr/>
          <p:nvPr/>
        </p:nvSpPr>
        <p:spPr>
          <a:xfrm>
            <a:off x="792110" y="2644877"/>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Nhà cung cấp</a:t>
            </a:r>
          </a:p>
        </p:txBody>
      </p:sp>
      <p:sp>
        <p:nvSpPr>
          <p:cNvPr id="17" name="Hình chữ nhật: Góc Tròn 16">
            <a:extLst>
              <a:ext uri="{FF2B5EF4-FFF2-40B4-BE49-F238E27FC236}">
                <a16:creationId xmlns:a16="http://schemas.microsoft.com/office/drawing/2014/main" id="{F93AEC2F-CE0B-B9FD-83C2-691D8AFBA0A9}"/>
              </a:ext>
            </a:extLst>
          </p:cNvPr>
          <p:cNvSpPr/>
          <p:nvPr/>
        </p:nvSpPr>
        <p:spPr>
          <a:xfrm>
            <a:off x="10618840" y="707922"/>
            <a:ext cx="1130710" cy="16714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Hóa đơn</a:t>
            </a:r>
          </a:p>
        </p:txBody>
      </p:sp>
      <p:cxnSp>
        <p:nvCxnSpPr>
          <p:cNvPr id="19" name="Đường kết nối Mũi tên Thẳng 18">
            <a:extLst>
              <a:ext uri="{FF2B5EF4-FFF2-40B4-BE49-F238E27FC236}">
                <a16:creationId xmlns:a16="http://schemas.microsoft.com/office/drawing/2014/main" id="{8C788968-F486-D5C7-57AB-81E8C9A690FA}"/>
              </a:ext>
            </a:extLst>
          </p:cNvPr>
          <p:cNvCxnSpPr>
            <a:cxnSpLocks/>
          </p:cNvCxnSpPr>
          <p:nvPr/>
        </p:nvCxnSpPr>
        <p:spPr>
          <a:xfrm flipH="1">
            <a:off x="1524000" y="653846"/>
            <a:ext cx="3068895" cy="6833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Đường kết nối Mũi tên Thẳng 20">
            <a:extLst>
              <a:ext uri="{FF2B5EF4-FFF2-40B4-BE49-F238E27FC236}">
                <a16:creationId xmlns:a16="http://schemas.microsoft.com/office/drawing/2014/main" id="{379DD9A9-5680-31FE-5C03-965A8C14795D}"/>
              </a:ext>
            </a:extLst>
          </p:cNvPr>
          <p:cNvCxnSpPr>
            <a:cxnSpLocks/>
          </p:cNvCxnSpPr>
          <p:nvPr/>
        </p:nvCxnSpPr>
        <p:spPr>
          <a:xfrm flipH="1">
            <a:off x="2021144" y="1720645"/>
            <a:ext cx="2659011" cy="1587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Đường kết nối Mũi tên Thẳng 22">
            <a:extLst>
              <a:ext uri="{FF2B5EF4-FFF2-40B4-BE49-F238E27FC236}">
                <a16:creationId xmlns:a16="http://schemas.microsoft.com/office/drawing/2014/main" id="{6F45FF5F-D4E4-95CF-57D3-93058E29BED9}"/>
              </a:ext>
            </a:extLst>
          </p:cNvPr>
          <p:cNvCxnSpPr>
            <a:cxnSpLocks/>
          </p:cNvCxnSpPr>
          <p:nvPr/>
        </p:nvCxnSpPr>
        <p:spPr>
          <a:xfrm flipH="1">
            <a:off x="3152952" y="1986116"/>
            <a:ext cx="2043513" cy="2492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Đường kết nối Mũi tên Thẳng 24">
            <a:extLst>
              <a:ext uri="{FF2B5EF4-FFF2-40B4-BE49-F238E27FC236}">
                <a16:creationId xmlns:a16="http://schemas.microsoft.com/office/drawing/2014/main" id="{87FF0670-D753-A949-010E-59FFBB2747E3}"/>
              </a:ext>
            </a:extLst>
          </p:cNvPr>
          <p:cNvCxnSpPr>
            <a:cxnSpLocks/>
            <a:endCxn id="12" idx="0"/>
          </p:cNvCxnSpPr>
          <p:nvPr/>
        </p:nvCxnSpPr>
        <p:spPr>
          <a:xfrm flipH="1">
            <a:off x="5068529" y="2123768"/>
            <a:ext cx="673510" cy="24089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Đường kết nối Mũi tên Thẳng 26">
            <a:extLst>
              <a:ext uri="{FF2B5EF4-FFF2-40B4-BE49-F238E27FC236}">
                <a16:creationId xmlns:a16="http://schemas.microsoft.com/office/drawing/2014/main" id="{B3E639C3-3266-4033-8A93-85D84874120A}"/>
              </a:ext>
            </a:extLst>
          </p:cNvPr>
          <p:cNvCxnSpPr>
            <a:cxnSpLocks/>
            <a:stCxn id="4" idx="5"/>
            <a:endCxn id="15" idx="0"/>
          </p:cNvCxnSpPr>
          <p:nvPr/>
        </p:nvCxnSpPr>
        <p:spPr>
          <a:xfrm>
            <a:off x="6918484" y="1834348"/>
            <a:ext cx="565355" cy="27671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Đường kết nối Mũi tên Thẳng 28">
            <a:extLst>
              <a:ext uri="{FF2B5EF4-FFF2-40B4-BE49-F238E27FC236}">
                <a16:creationId xmlns:a16="http://schemas.microsoft.com/office/drawing/2014/main" id="{0ECDB24E-30B9-0C4F-893B-F45A4A41C990}"/>
              </a:ext>
            </a:extLst>
          </p:cNvPr>
          <p:cNvCxnSpPr>
            <a:cxnSpLocks/>
          </p:cNvCxnSpPr>
          <p:nvPr/>
        </p:nvCxnSpPr>
        <p:spPr>
          <a:xfrm>
            <a:off x="7112042" y="1406013"/>
            <a:ext cx="1854435" cy="1193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Đường kết nối Mũi tên Thẳng 30">
            <a:extLst>
              <a:ext uri="{FF2B5EF4-FFF2-40B4-BE49-F238E27FC236}">
                <a16:creationId xmlns:a16="http://schemas.microsoft.com/office/drawing/2014/main" id="{54DD2CFF-058E-2C97-F981-0F9D6FE7169B}"/>
              </a:ext>
            </a:extLst>
          </p:cNvPr>
          <p:cNvCxnSpPr>
            <a:cxnSpLocks/>
          </p:cNvCxnSpPr>
          <p:nvPr/>
        </p:nvCxnSpPr>
        <p:spPr>
          <a:xfrm>
            <a:off x="7344695" y="875071"/>
            <a:ext cx="3323305" cy="3637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Hình chữ nhật: Góc Tròn 36">
            <a:extLst>
              <a:ext uri="{FF2B5EF4-FFF2-40B4-BE49-F238E27FC236}">
                <a16:creationId xmlns:a16="http://schemas.microsoft.com/office/drawing/2014/main" id="{6423D7EE-D5E5-F84F-D719-2A4443C6B037}"/>
              </a:ext>
            </a:extLst>
          </p:cNvPr>
          <p:cNvSpPr/>
          <p:nvPr/>
        </p:nvSpPr>
        <p:spPr>
          <a:xfrm>
            <a:off x="10551505" y="4532670"/>
            <a:ext cx="962781" cy="134880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Phiếu xuất</a:t>
            </a:r>
          </a:p>
        </p:txBody>
      </p:sp>
      <p:sp>
        <p:nvSpPr>
          <p:cNvPr id="39" name="Hình chữ nhật: Góc Tròn 38">
            <a:extLst>
              <a:ext uri="{FF2B5EF4-FFF2-40B4-BE49-F238E27FC236}">
                <a16:creationId xmlns:a16="http://schemas.microsoft.com/office/drawing/2014/main" id="{EB883A34-66E8-49D0-2CDD-C76FA6512C96}"/>
              </a:ext>
            </a:extLst>
          </p:cNvPr>
          <p:cNvSpPr/>
          <p:nvPr/>
        </p:nvSpPr>
        <p:spPr>
          <a:xfrm>
            <a:off x="8966477" y="4526306"/>
            <a:ext cx="962781" cy="134880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Phiếu nhập</a:t>
            </a:r>
          </a:p>
        </p:txBody>
      </p:sp>
      <p:cxnSp>
        <p:nvCxnSpPr>
          <p:cNvPr id="42" name="Đường kết nối Mũi tên Thẳng 41">
            <a:extLst>
              <a:ext uri="{FF2B5EF4-FFF2-40B4-BE49-F238E27FC236}">
                <a16:creationId xmlns:a16="http://schemas.microsoft.com/office/drawing/2014/main" id="{D651E98D-EB2F-666C-EC9F-473CAA4ED28C}"/>
              </a:ext>
            </a:extLst>
          </p:cNvPr>
          <p:cNvCxnSpPr>
            <a:cxnSpLocks/>
          </p:cNvCxnSpPr>
          <p:nvPr/>
        </p:nvCxnSpPr>
        <p:spPr>
          <a:xfrm flipH="1">
            <a:off x="9819000" y="3923071"/>
            <a:ext cx="263319" cy="5555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Đường kết nối Mũi tên Thẳng 43">
            <a:extLst>
              <a:ext uri="{FF2B5EF4-FFF2-40B4-BE49-F238E27FC236}">
                <a16:creationId xmlns:a16="http://schemas.microsoft.com/office/drawing/2014/main" id="{412BE416-CA7D-9CA7-930B-52DC4F7AEFD1}"/>
              </a:ext>
            </a:extLst>
          </p:cNvPr>
          <p:cNvCxnSpPr>
            <a:cxnSpLocks/>
          </p:cNvCxnSpPr>
          <p:nvPr/>
        </p:nvCxnSpPr>
        <p:spPr>
          <a:xfrm>
            <a:off x="10050387" y="3923071"/>
            <a:ext cx="830363" cy="5555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49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5" grpId="0" animBg="1"/>
      <p:bldP spid="16" grpId="0" animBg="1"/>
      <p:bldP spid="17" grpId="0" animBg="1"/>
      <p:bldP spid="37" grpId="0" animBg="1"/>
      <p:bldP spid="3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Hình chữ nhật: Góc Tròn 10">
            <a:extLst>
              <a:ext uri="{FF2B5EF4-FFF2-40B4-BE49-F238E27FC236}">
                <a16:creationId xmlns:a16="http://schemas.microsoft.com/office/drawing/2014/main" id="{8FDB6DB5-2C6E-113F-0830-F708630F87F6}"/>
              </a:ext>
            </a:extLst>
          </p:cNvPr>
          <p:cNvSpPr/>
          <p:nvPr/>
        </p:nvSpPr>
        <p:spPr>
          <a:xfrm>
            <a:off x="-1855808" y="-196614"/>
            <a:ext cx="15903615" cy="2419108"/>
          </a:xfrm>
          <a:prstGeom prst="roundRect">
            <a:avLst/>
          </a:prstGeom>
          <a:solidFill>
            <a:srgbClr val="1C5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Bảng 6">
            <a:extLst>
              <a:ext uri="{FF2B5EF4-FFF2-40B4-BE49-F238E27FC236}">
                <a16:creationId xmlns:a16="http://schemas.microsoft.com/office/drawing/2014/main" id="{374588BE-D8A3-0925-F747-B236522989D0}"/>
              </a:ext>
            </a:extLst>
          </p:cNvPr>
          <p:cNvGraphicFramePr>
            <a:graphicFrameLocks noGrp="1"/>
          </p:cNvGraphicFramePr>
          <p:nvPr>
            <p:extLst>
              <p:ext uri="{D42A27DB-BD31-4B8C-83A1-F6EECF244321}">
                <p14:modId xmlns:p14="http://schemas.microsoft.com/office/powerpoint/2010/main" val="3540122465"/>
              </p:ext>
            </p:extLst>
          </p:nvPr>
        </p:nvGraphicFramePr>
        <p:xfrm>
          <a:off x="1730180" y="2745104"/>
          <a:ext cx="8731637" cy="3780806"/>
        </p:xfrm>
        <a:graphic>
          <a:graphicData uri="http://schemas.openxmlformats.org/drawingml/2006/table">
            <a:tbl>
              <a:tblPr firstRow="1" bandRow="1">
                <a:tableStyleId>{5C22544A-7EE6-4342-B048-85BDC9FD1C3A}</a:tableStyleId>
              </a:tblPr>
              <a:tblGrid>
                <a:gridCol w="2340586">
                  <a:extLst>
                    <a:ext uri="{9D8B030D-6E8A-4147-A177-3AD203B41FA5}">
                      <a16:colId xmlns:a16="http://schemas.microsoft.com/office/drawing/2014/main" val="2343086229"/>
                    </a:ext>
                  </a:extLst>
                </a:gridCol>
                <a:gridCol w="6391051">
                  <a:extLst>
                    <a:ext uri="{9D8B030D-6E8A-4147-A177-3AD203B41FA5}">
                      <a16:colId xmlns:a16="http://schemas.microsoft.com/office/drawing/2014/main" val="48857019"/>
                    </a:ext>
                  </a:extLst>
                </a:gridCol>
              </a:tblGrid>
              <a:tr h="453406">
                <a:tc>
                  <a:txBody>
                    <a:bodyPr/>
                    <a:lstStyle/>
                    <a:p>
                      <a:pPr algn="l">
                        <a:lnSpc>
                          <a:spcPct val="100000"/>
                        </a:lnSpc>
                        <a:spcBef>
                          <a:spcPts val="100"/>
                        </a:spcBef>
                        <a:spcAft>
                          <a:spcPts val="100"/>
                        </a:spcAft>
                      </a:pPr>
                      <a:r>
                        <a:rPr lang="en-US"/>
                        <a:t>Nhiệm vụ </a:t>
                      </a:r>
                    </a:p>
                  </a:txBody>
                  <a:tcPr anchor="ctr"/>
                </a:tc>
                <a:tc>
                  <a:txBody>
                    <a:bodyPr/>
                    <a:lstStyle/>
                    <a:p>
                      <a:pPr algn="ctr">
                        <a:lnSpc>
                          <a:spcPct val="100000"/>
                        </a:lnSpc>
                        <a:spcBef>
                          <a:spcPts val="100"/>
                        </a:spcBef>
                        <a:spcAft>
                          <a:spcPts val="100"/>
                        </a:spcAft>
                      </a:pPr>
                      <a:r>
                        <a:rPr lang="en-US"/>
                        <a:t>Khai báo</a:t>
                      </a:r>
                    </a:p>
                  </a:txBody>
                  <a:tcPr anchor="ctr"/>
                </a:tc>
                <a:extLst>
                  <a:ext uri="{0D108BD9-81ED-4DB2-BD59-A6C34878D82A}">
                    <a16:rowId xmlns:a16="http://schemas.microsoft.com/office/drawing/2014/main" val="1840617090"/>
                  </a:ext>
                </a:extLst>
              </a:tr>
              <a:tr h="520116">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lang="en-US" sz="1800" b="0" kern="1200">
                          <a:solidFill>
                            <a:schemeClr val="dk1"/>
                          </a:solidFill>
                          <a:effectLst/>
                          <a:latin typeface="+mn-lt"/>
                          <a:ea typeface="+mn-ea"/>
                          <a:cs typeface="+mn-cs"/>
                        </a:rPr>
                        <a:t>Đọc file dữ liệu</a:t>
                      </a:r>
                    </a:p>
                    <a:p>
                      <a:pPr algn="l">
                        <a:lnSpc>
                          <a:spcPct val="100000"/>
                        </a:lnSpc>
                        <a:spcBef>
                          <a:spcPts val="100"/>
                        </a:spcBef>
                        <a:spcAft>
                          <a:spcPts val="100"/>
                        </a:spcAft>
                      </a:pPr>
                      <a:endParaRPr lang="en-US"/>
                    </a:p>
                  </a:txBody>
                  <a:tcPr anchor="ctr"/>
                </a:tc>
                <a:tc>
                  <a:txBody>
                    <a:bodyPr/>
                    <a:lstStyle/>
                    <a:p>
                      <a:pPr algn="ctr">
                        <a:lnSpc>
                          <a:spcPct val="100000"/>
                        </a:lnSpc>
                        <a:spcBef>
                          <a:spcPts val="100"/>
                        </a:spcBef>
                        <a:spcAft>
                          <a:spcPts val="100"/>
                        </a:spcAft>
                      </a:pPr>
                      <a:r>
                        <a:rPr lang="en-US" sz="1800" b="0" kern="1200">
                          <a:solidFill>
                            <a:schemeClr val="dk1"/>
                          </a:solidFill>
                          <a:effectLst/>
                          <a:latin typeface="Cascadia Code" panose="020B0609020000020004" pitchFamily="49" charset="0"/>
                          <a:ea typeface="+mn-ea"/>
                          <a:cs typeface="Cascadia Code" panose="020B0609020000020004" pitchFamily="49" charset="0"/>
                        </a:rPr>
                        <a:t>loadFromFile()</a:t>
                      </a:r>
                    </a:p>
                    <a:p>
                      <a:pPr algn="ctr">
                        <a:lnSpc>
                          <a:spcPct val="100000"/>
                        </a:lnSpc>
                        <a:spcBef>
                          <a:spcPts val="100"/>
                        </a:spcBef>
                        <a:spcAft>
                          <a:spcPts val="100"/>
                        </a:spcAft>
                      </a:pPr>
                      <a:endParaRPr lang="en-US"/>
                    </a:p>
                  </a:txBody>
                  <a:tcPr anchor="ctr"/>
                </a:tc>
                <a:extLst>
                  <a:ext uri="{0D108BD9-81ED-4DB2-BD59-A6C34878D82A}">
                    <a16:rowId xmlns:a16="http://schemas.microsoft.com/office/drawing/2014/main" val="972663677"/>
                  </a:ext>
                </a:extLst>
              </a:tr>
              <a:tr h="608176">
                <a:tc>
                  <a:txBody>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lang="en-US" sz="1800" b="0" kern="1200">
                          <a:solidFill>
                            <a:schemeClr val="dk1"/>
                          </a:solidFill>
                          <a:effectLst/>
                          <a:latin typeface="+mn-lt"/>
                          <a:ea typeface="+mn-ea"/>
                          <a:cs typeface="+mn-cs"/>
                        </a:rPr>
                        <a:t>Lưu dữ liệu vào file</a:t>
                      </a:r>
                    </a:p>
                    <a:p>
                      <a:pPr algn="l">
                        <a:lnSpc>
                          <a:spcPct val="100000"/>
                        </a:lnSpc>
                        <a:spcBef>
                          <a:spcPts val="100"/>
                        </a:spcBef>
                        <a:spcAft>
                          <a:spcPts val="100"/>
                        </a:spcAft>
                      </a:pPr>
                      <a:endParaRPr lang="en-US"/>
                    </a:p>
                  </a:txBody>
                  <a:tcPr anchor="ctr"/>
                </a:tc>
                <a:tc>
                  <a:txBody>
                    <a:bodyPr/>
                    <a:lstStyle/>
                    <a:p>
                      <a:pPr algn="ctr">
                        <a:lnSpc>
                          <a:spcPct val="100000"/>
                        </a:lnSpc>
                        <a:spcBef>
                          <a:spcPts val="100"/>
                        </a:spcBef>
                        <a:spcAft>
                          <a:spcPts val="100"/>
                        </a:spcAft>
                      </a:pPr>
                      <a:r>
                        <a:rPr lang="en-US" sz="1800" b="0" kern="1200">
                          <a:solidFill>
                            <a:schemeClr val="dk1"/>
                          </a:solidFill>
                          <a:effectLst/>
                          <a:latin typeface="Cascadia Code" panose="020B0609020000020004" pitchFamily="49" charset="0"/>
                          <a:ea typeface="+mn-ea"/>
                          <a:cs typeface="Cascadia Code" panose="020B0609020000020004" pitchFamily="49" charset="0"/>
                        </a:rPr>
                        <a:t>SaveToFile()</a:t>
                      </a:r>
                    </a:p>
                    <a:p>
                      <a:pPr algn="ctr">
                        <a:lnSpc>
                          <a:spcPct val="100000"/>
                        </a:lnSpc>
                        <a:spcBef>
                          <a:spcPts val="100"/>
                        </a:spcBef>
                        <a:spcAft>
                          <a:spcPts val="100"/>
                        </a:spcAft>
                      </a:pPr>
                      <a:endParaRPr lang="en-US"/>
                    </a:p>
                  </a:txBody>
                  <a:tcPr anchor="ctr"/>
                </a:tc>
                <a:extLst>
                  <a:ext uri="{0D108BD9-81ED-4DB2-BD59-A6C34878D82A}">
                    <a16:rowId xmlns:a16="http://schemas.microsoft.com/office/drawing/2014/main" val="3471434605"/>
                  </a:ext>
                </a:extLst>
              </a:tr>
              <a:tr h="619811">
                <a:tc>
                  <a:txBody>
                    <a:bodyPr/>
                    <a:lstStyle/>
                    <a:p>
                      <a:pPr algn="l">
                        <a:lnSpc>
                          <a:spcPct val="100000"/>
                        </a:lnSpc>
                        <a:spcBef>
                          <a:spcPts val="100"/>
                        </a:spcBef>
                        <a:spcAft>
                          <a:spcPts val="100"/>
                        </a:spcAft>
                      </a:pPr>
                      <a:r>
                        <a:rPr lang="en-US" sz="1800" b="0" kern="1200">
                          <a:solidFill>
                            <a:schemeClr val="dk1"/>
                          </a:solidFill>
                          <a:effectLst/>
                          <a:latin typeface="+mn-lt"/>
                          <a:ea typeface="+mn-ea"/>
                          <a:cs typeface="+mn-cs"/>
                        </a:rPr>
                        <a:t>thêm đối tượng mới</a:t>
                      </a:r>
                    </a:p>
                    <a:p>
                      <a:pPr algn="l">
                        <a:lnSpc>
                          <a:spcPct val="100000"/>
                        </a:lnSpc>
                        <a:spcBef>
                          <a:spcPts val="100"/>
                        </a:spcBef>
                        <a:spcAft>
                          <a:spcPts val="100"/>
                        </a:spcAft>
                      </a:pPr>
                      <a:endParaRPr lang="en-US"/>
                    </a:p>
                  </a:txBody>
                  <a:tcPr anchor="ctr"/>
                </a:tc>
                <a:tc>
                  <a:txBody>
                    <a:bodyPr/>
                    <a:lstStyle/>
                    <a:p>
                      <a:pPr marL="0" marR="0" lvl="0" indent="0" algn="ctr" defTabSz="914400" rtl="0" eaLnBrk="1" fontAlgn="auto" latinLnBrk="0" hangingPunct="1">
                        <a:lnSpc>
                          <a:spcPct val="100000"/>
                        </a:lnSpc>
                        <a:spcBef>
                          <a:spcPts val="100"/>
                        </a:spcBef>
                        <a:spcAft>
                          <a:spcPts val="100"/>
                        </a:spcAft>
                        <a:buClrTx/>
                        <a:buSzTx/>
                        <a:buFontTx/>
                        <a:buNone/>
                        <a:tabLst/>
                        <a:defRPr/>
                      </a:pPr>
                      <a:r>
                        <a:rPr lang="en-US" sz="1800" b="0" kern="1200">
                          <a:solidFill>
                            <a:schemeClr val="dk1"/>
                          </a:solidFill>
                          <a:effectLst/>
                          <a:latin typeface="Cascadia Code" panose="020B0609020000020004" pitchFamily="49" charset="0"/>
                          <a:ea typeface="+mn-ea"/>
                          <a:cs typeface="Cascadia Code" panose="020B0609020000020004" pitchFamily="49" charset="0"/>
                        </a:rPr>
                        <a:t>add(shared_ptr&lt;T&gt; obj)</a:t>
                      </a:r>
                    </a:p>
                    <a:p>
                      <a:pPr algn="ctr">
                        <a:lnSpc>
                          <a:spcPct val="100000"/>
                        </a:lnSpc>
                        <a:spcBef>
                          <a:spcPts val="100"/>
                        </a:spcBef>
                        <a:spcAft>
                          <a:spcPts val="100"/>
                        </a:spcAft>
                      </a:pPr>
                      <a:endParaRPr lang="en-US"/>
                    </a:p>
                  </a:txBody>
                  <a:tcPr anchor="ctr"/>
                </a:tc>
                <a:extLst>
                  <a:ext uri="{0D108BD9-81ED-4DB2-BD59-A6C34878D82A}">
                    <a16:rowId xmlns:a16="http://schemas.microsoft.com/office/drawing/2014/main" val="1708852541"/>
                  </a:ext>
                </a:extLst>
              </a:tr>
              <a:tr h="520116">
                <a:tc>
                  <a:txBody>
                    <a:bodyPr/>
                    <a:lstStyle/>
                    <a:p>
                      <a:pPr algn="l">
                        <a:lnSpc>
                          <a:spcPct val="100000"/>
                        </a:lnSpc>
                        <a:spcBef>
                          <a:spcPts val="100"/>
                        </a:spcBef>
                        <a:spcAft>
                          <a:spcPts val="100"/>
                        </a:spcAft>
                      </a:pPr>
                      <a:r>
                        <a:rPr lang="en-US"/>
                        <a:t>Xóa đối tượng</a:t>
                      </a:r>
                    </a:p>
                  </a:txBody>
                  <a:tcPr anchor="ctr"/>
                </a:tc>
                <a:tc>
                  <a:txBody>
                    <a:bodyPr/>
                    <a:lstStyle/>
                    <a:p>
                      <a:pPr marL="0" marR="0" lvl="0" indent="0" algn="ctr" defTabSz="914400" rtl="0" eaLnBrk="1" fontAlgn="auto" latinLnBrk="0" hangingPunct="1">
                        <a:lnSpc>
                          <a:spcPct val="100000"/>
                        </a:lnSpc>
                        <a:spcBef>
                          <a:spcPts val="100"/>
                        </a:spcBef>
                        <a:spcAft>
                          <a:spcPts val="100"/>
                        </a:spcAft>
                        <a:buClrTx/>
                        <a:buSzTx/>
                        <a:buFontTx/>
                        <a:buNone/>
                        <a:tabLst/>
                        <a:defRPr/>
                      </a:pPr>
                      <a:r>
                        <a:rPr lang="en-US" sz="1800" b="0" kern="1200">
                          <a:solidFill>
                            <a:schemeClr val="dk1"/>
                          </a:solidFill>
                          <a:effectLst/>
                          <a:latin typeface="Cascadia Code" panose="020B0609020000020004" pitchFamily="49" charset="0"/>
                          <a:ea typeface="+mn-ea"/>
                          <a:cs typeface="Cascadia Code" panose="020B0609020000020004" pitchFamily="49" charset="0"/>
                        </a:rPr>
                        <a:t>remove(string ma)</a:t>
                      </a:r>
                    </a:p>
                    <a:p>
                      <a:pPr algn="ctr">
                        <a:lnSpc>
                          <a:spcPct val="100000"/>
                        </a:lnSpc>
                        <a:spcBef>
                          <a:spcPts val="100"/>
                        </a:spcBef>
                        <a:spcAft>
                          <a:spcPts val="100"/>
                        </a:spcAft>
                      </a:pPr>
                      <a:endParaRPr lang="en-US"/>
                    </a:p>
                  </a:txBody>
                  <a:tcPr anchor="ctr"/>
                </a:tc>
                <a:extLst>
                  <a:ext uri="{0D108BD9-81ED-4DB2-BD59-A6C34878D82A}">
                    <a16:rowId xmlns:a16="http://schemas.microsoft.com/office/drawing/2014/main" val="399679510"/>
                  </a:ext>
                </a:extLst>
              </a:tr>
              <a:tr h="520116">
                <a:tc>
                  <a:txBody>
                    <a:bodyPr/>
                    <a:lstStyle/>
                    <a:p>
                      <a:pPr algn="l">
                        <a:lnSpc>
                          <a:spcPct val="100000"/>
                        </a:lnSpc>
                        <a:spcBef>
                          <a:spcPts val="100"/>
                        </a:spcBef>
                        <a:spcAft>
                          <a:spcPts val="100"/>
                        </a:spcAft>
                      </a:pPr>
                      <a:r>
                        <a:rPr lang="en-US"/>
                        <a:t>Hiển thị danh sách</a:t>
                      </a:r>
                    </a:p>
                  </a:txBody>
                  <a:tcPr anchor="ctr"/>
                </a:tc>
                <a:tc>
                  <a:txBody>
                    <a:bodyPr/>
                    <a:lstStyle/>
                    <a:p>
                      <a:pPr marL="0" marR="0" lvl="0" indent="0" algn="ctr" defTabSz="914400" rtl="0" eaLnBrk="1" fontAlgn="auto" latinLnBrk="0" hangingPunct="1">
                        <a:lnSpc>
                          <a:spcPct val="100000"/>
                        </a:lnSpc>
                        <a:spcBef>
                          <a:spcPts val="100"/>
                        </a:spcBef>
                        <a:spcAft>
                          <a:spcPts val="100"/>
                        </a:spcAft>
                        <a:buClrTx/>
                        <a:buSzTx/>
                        <a:buFontTx/>
                        <a:buNone/>
                        <a:tabLst/>
                        <a:defRPr/>
                      </a:pPr>
                      <a:r>
                        <a:rPr lang="en-US" sz="1800" b="0" kern="1200">
                          <a:solidFill>
                            <a:schemeClr val="dk1"/>
                          </a:solidFill>
                          <a:effectLst/>
                          <a:latin typeface="Cascadia Code" panose="020B0609020000020004" pitchFamily="49" charset="0"/>
                          <a:ea typeface="+mn-ea"/>
                          <a:cs typeface="Cascadia Code" panose="020B0609020000020004" pitchFamily="49" charset="0"/>
                        </a:rPr>
                        <a:t>displayall()</a:t>
                      </a:r>
                    </a:p>
                    <a:p>
                      <a:pPr algn="ctr">
                        <a:lnSpc>
                          <a:spcPct val="100000"/>
                        </a:lnSpc>
                        <a:spcBef>
                          <a:spcPts val="100"/>
                        </a:spcBef>
                        <a:spcAft>
                          <a:spcPts val="100"/>
                        </a:spcAft>
                      </a:pPr>
                      <a:endParaRPr lang="en-US"/>
                    </a:p>
                  </a:txBody>
                  <a:tcPr anchor="ctr"/>
                </a:tc>
                <a:extLst>
                  <a:ext uri="{0D108BD9-81ED-4DB2-BD59-A6C34878D82A}">
                    <a16:rowId xmlns:a16="http://schemas.microsoft.com/office/drawing/2014/main" val="1511410150"/>
                  </a:ext>
                </a:extLst>
              </a:tr>
            </a:tbl>
          </a:graphicData>
        </a:graphic>
      </p:graphicFrame>
      <p:sp>
        <p:nvSpPr>
          <p:cNvPr id="5" name="Hộp Văn bản 4">
            <a:extLst>
              <a:ext uri="{FF2B5EF4-FFF2-40B4-BE49-F238E27FC236}">
                <a16:creationId xmlns:a16="http://schemas.microsoft.com/office/drawing/2014/main" id="{9F558AAF-535E-DA84-B486-913971BFC7CD}"/>
              </a:ext>
            </a:extLst>
          </p:cNvPr>
          <p:cNvSpPr txBox="1"/>
          <p:nvPr/>
        </p:nvSpPr>
        <p:spPr>
          <a:xfrm>
            <a:off x="185194" y="1269377"/>
            <a:ext cx="8958805" cy="584775"/>
          </a:xfrm>
          <a:prstGeom prst="rect">
            <a:avLst/>
          </a:prstGeom>
          <a:noFill/>
        </p:spPr>
        <p:txBody>
          <a:bodyPr wrap="square" rtlCol="0">
            <a:spAutoFit/>
          </a:bodyPr>
          <a:lstStyle/>
          <a:p>
            <a:r>
              <a:rPr lang="en-US" sz="1600">
                <a:solidFill>
                  <a:schemeClr val="bg1"/>
                </a:solidFill>
              </a:rPr>
              <a:t>*Lớp template Repository&lt;T&gt; đảm nhiệm việc đọc/ghi file, thêm/sửa/xóa/tìm kiếm. Dùng chung cho cả 10 loại đối tượng mà không cần viết lặp lại logic lưu trữ</a:t>
            </a:r>
          </a:p>
        </p:txBody>
      </p:sp>
      <p:sp>
        <p:nvSpPr>
          <p:cNvPr id="12" name="Hộp Văn bản 11">
            <a:extLst>
              <a:ext uri="{FF2B5EF4-FFF2-40B4-BE49-F238E27FC236}">
                <a16:creationId xmlns:a16="http://schemas.microsoft.com/office/drawing/2014/main" id="{EE087284-5AA0-B698-68DB-91FE6F89059B}"/>
              </a:ext>
            </a:extLst>
          </p:cNvPr>
          <p:cNvSpPr txBox="1"/>
          <p:nvPr/>
        </p:nvSpPr>
        <p:spPr>
          <a:xfrm>
            <a:off x="4097438" y="567159"/>
            <a:ext cx="5625296" cy="523220"/>
          </a:xfrm>
          <a:prstGeom prst="rect">
            <a:avLst/>
          </a:prstGeom>
          <a:noFill/>
        </p:spPr>
        <p:txBody>
          <a:bodyPr wrap="square" rtlCol="0">
            <a:spAutoFit/>
          </a:bodyPr>
          <a:lstStyle/>
          <a:p>
            <a:r>
              <a:rPr lang="en-US" sz="2800" b="1">
                <a:solidFill>
                  <a:schemeClr val="bg1"/>
                </a:solidFill>
              </a:rPr>
              <a:t>Tầng lưu trữ (Repository layer</a:t>
            </a:r>
            <a:endParaRPr lang="en-US" sz="2800">
              <a:solidFill>
                <a:schemeClr val="bg1"/>
              </a:solidFill>
            </a:endParaRPr>
          </a:p>
        </p:txBody>
      </p:sp>
    </p:spTree>
    <p:extLst>
      <p:ext uri="{BB962C8B-B14F-4D97-AF65-F5344CB8AC3E}">
        <p14:creationId xmlns:p14="http://schemas.microsoft.com/office/powerpoint/2010/main" val="252212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424FA769-C4CB-FAB4-E0B5-40A201025A02}"/>
              </a:ext>
            </a:extLst>
          </p:cNvPr>
          <p:cNvSpPr/>
          <p:nvPr/>
        </p:nvSpPr>
        <p:spPr>
          <a:xfrm>
            <a:off x="0" y="0"/>
            <a:ext cx="12192000" cy="1226127"/>
          </a:xfrm>
          <a:prstGeom prst="rect">
            <a:avLst/>
          </a:prstGeom>
          <a:solidFill>
            <a:srgbClr val="1C54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ộp Văn bản 2">
            <a:extLst>
              <a:ext uri="{FF2B5EF4-FFF2-40B4-BE49-F238E27FC236}">
                <a16:creationId xmlns:a16="http://schemas.microsoft.com/office/drawing/2014/main" id="{4765BD75-6FBB-12D5-F673-62836C9800E5}"/>
              </a:ext>
            </a:extLst>
          </p:cNvPr>
          <p:cNvSpPr txBox="1"/>
          <p:nvPr/>
        </p:nvSpPr>
        <p:spPr>
          <a:xfrm>
            <a:off x="1641762" y="440567"/>
            <a:ext cx="9102437" cy="523220"/>
          </a:xfrm>
          <a:prstGeom prst="rect">
            <a:avLst/>
          </a:prstGeom>
          <a:noFill/>
        </p:spPr>
        <p:txBody>
          <a:bodyPr wrap="square" rtlCol="0">
            <a:spAutoFit/>
          </a:bodyPr>
          <a:lstStyle/>
          <a:p>
            <a:r>
              <a:rPr lang="en-US" sz="2800">
                <a:solidFill>
                  <a:schemeClr val="bg1"/>
                </a:solidFill>
              </a:rPr>
              <a:t>Các Kỹ Thuật Lập Trình Hướng Đối Tượng (OOP) Sử Dụng</a:t>
            </a:r>
          </a:p>
        </p:txBody>
      </p:sp>
      <p:sp>
        <p:nvSpPr>
          <p:cNvPr id="4" name="Hộp Văn bản 3">
            <a:extLst>
              <a:ext uri="{FF2B5EF4-FFF2-40B4-BE49-F238E27FC236}">
                <a16:creationId xmlns:a16="http://schemas.microsoft.com/office/drawing/2014/main" id="{7E989E8C-0C61-9C4B-7C5C-050221BE41CE}"/>
              </a:ext>
            </a:extLst>
          </p:cNvPr>
          <p:cNvSpPr txBox="1"/>
          <p:nvPr/>
        </p:nvSpPr>
        <p:spPr>
          <a:xfrm>
            <a:off x="166254" y="1610591"/>
            <a:ext cx="5929745" cy="369332"/>
          </a:xfrm>
          <a:prstGeom prst="rect">
            <a:avLst/>
          </a:prstGeom>
          <a:noFill/>
        </p:spPr>
        <p:txBody>
          <a:bodyPr wrap="square" rtlCol="0">
            <a:spAutoFit/>
          </a:bodyPr>
          <a:lstStyle/>
          <a:p>
            <a:r>
              <a:rPr lang="en-US" b="1"/>
              <a:t>1. Lớp Trừu Tượng (Abstraction) &amp; Kế Thừa (Inheritance)</a:t>
            </a:r>
          </a:p>
        </p:txBody>
      </p:sp>
      <p:sp>
        <p:nvSpPr>
          <p:cNvPr id="5" name="Hộp Văn bản 4">
            <a:extLst>
              <a:ext uri="{FF2B5EF4-FFF2-40B4-BE49-F238E27FC236}">
                <a16:creationId xmlns:a16="http://schemas.microsoft.com/office/drawing/2014/main" id="{ACB95EF2-8DD9-984B-3E8C-7495EF7833BD}"/>
              </a:ext>
            </a:extLst>
          </p:cNvPr>
          <p:cNvSpPr txBox="1"/>
          <p:nvPr/>
        </p:nvSpPr>
        <p:spPr>
          <a:xfrm>
            <a:off x="342899" y="1979923"/>
            <a:ext cx="5753100" cy="861774"/>
          </a:xfrm>
          <a:prstGeom prst="rect">
            <a:avLst/>
          </a:prstGeom>
          <a:noFill/>
        </p:spPr>
        <p:txBody>
          <a:bodyPr wrap="square" rtlCol="0">
            <a:spAutoFit/>
          </a:bodyPr>
          <a:lstStyle/>
          <a:p>
            <a:r>
              <a:rPr lang="en-US" b="1"/>
              <a:t>Kỹ thuật:</a:t>
            </a:r>
            <a:r>
              <a:rPr lang="en-US"/>
              <a:t> </a:t>
            </a:r>
            <a:r>
              <a:rPr lang="en-US" sz="1600"/>
              <a:t>Định nghĩa lớp cơ sở trừu tượng Entity khai báo các phương thức thuần ảo (pure virtual): Nhap(), Capnhat(), xuat(), toFile(), fromFile().</a:t>
            </a:r>
          </a:p>
        </p:txBody>
      </p:sp>
      <p:sp>
        <p:nvSpPr>
          <p:cNvPr id="6" name="Hộp Văn bản 5">
            <a:extLst>
              <a:ext uri="{FF2B5EF4-FFF2-40B4-BE49-F238E27FC236}">
                <a16:creationId xmlns:a16="http://schemas.microsoft.com/office/drawing/2014/main" id="{2C5479DB-3C82-B673-0DD7-7125113AB8C4}"/>
              </a:ext>
            </a:extLst>
          </p:cNvPr>
          <p:cNvSpPr txBox="1"/>
          <p:nvPr/>
        </p:nvSpPr>
        <p:spPr>
          <a:xfrm>
            <a:off x="162789" y="2864987"/>
            <a:ext cx="5929744" cy="369332"/>
          </a:xfrm>
          <a:prstGeom prst="rect">
            <a:avLst/>
          </a:prstGeom>
          <a:noFill/>
        </p:spPr>
        <p:txBody>
          <a:bodyPr wrap="square" rtlCol="0">
            <a:spAutoFit/>
          </a:bodyPr>
          <a:lstStyle/>
          <a:p>
            <a:r>
              <a:rPr lang="en-US" b="1"/>
              <a:t>2. Tính Đa Hình (Polymorphism) &amp; Ghi Đè (Overriding)</a:t>
            </a:r>
          </a:p>
        </p:txBody>
      </p:sp>
      <p:sp>
        <p:nvSpPr>
          <p:cNvPr id="7" name="Hộp Văn bản 6">
            <a:extLst>
              <a:ext uri="{FF2B5EF4-FFF2-40B4-BE49-F238E27FC236}">
                <a16:creationId xmlns:a16="http://schemas.microsoft.com/office/drawing/2014/main" id="{A53ED251-C0BD-E6FC-C2CC-717F7EEF8627}"/>
              </a:ext>
            </a:extLst>
          </p:cNvPr>
          <p:cNvSpPr txBox="1"/>
          <p:nvPr/>
        </p:nvSpPr>
        <p:spPr>
          <a:xfrm>
            <a:off x="342898" y="3327916"/>
            <a:ext cx="5753099" cy="615553"/>
          </a:xfrm>
          <a:prstGeom prst="rect">
            <a:avLst/>
          </a:prstGeom>
          <a:noFill/>
        </p:spPr>
        <p:txBody>
          <a:bodyPr wrap="square" rtlCol="0">
            <a:spAutoFit/>
          </a:bodyPr>
          <a:lstStyle/>
          <a:p>
            <a:r>
              <a:rPr lang="en-US" b="1"/>
              <a:t>Kỹ thuật:</a:t>
            </a:r>
            <a:r>
              <a:rPr lang="en-US"/>
              <a:t> </a:t>
            </a:r>
            <a:r>
              <a:rPr lang="en-US" sz="1600"/>
              <a:t>Sử dụng từ khóa override để cài đặt lại các phương thức ảo của lớp cha Entity.</a:t>
            </a:r>
          </a:p>
        </p:txBody>
      </p:sp>
      <p:sp>
        <p:nvSpPr>
          <p:cNvPr id="8" name="Hộp Văn bản 7">
            <a:extLst>
              <a:ext uri="{FF2B5EF4-FFF2-40B4-BE49-F238E27FC236}">
                <a16:creationId xmlns:a16="http://schemas.microsoft.com/office/drawing/2014/main" id="{78A00741-6E60-3BEF-DDDA-A7462946F442}"/>
              </a:ext>
            </a:extLst>
          </p:cNvPr>
          <p:cNvSpPr txBox="1"/>
          <p:nvPr/>
        </p:nvSpPr>
        <p:spPr>
          <a:xfrm>
            <a:off x="182704" y="4016304"/>
            <a:ext cx="5933209" cy="369332"/>
          </a:xfrm>
          <a:prstGeom prst="rect">
            <a:avLst/>
          </a:prstGeom>
          <a:noFill/>
        </p:spPr>
        <p:txBody>
          <a:bodyPr wrap="square" rtlCol="0">
            <a:spAutoFit/>
          </a:bodyPr>
          <a:lstStyle/>
          <a:p>
            <a:r>
              <a:rPr lang="en-US" b="1"/>
              <a:t>3. Tính Đóng Gói (Encapsulation)</a:t>
            </a:r>
          </a:p>
        </p:txBody>
      </p:sp>
      <p:sp>
        <p:nvSpPr>
          <p:cNvPr id="10" name="Hộp Văn bản 9">
            <a:extLst>
              <a:ext uri="{FF2B5EF4-FFF2-40B4-BE49-F238E27FC236}">
                <a16:creationId xmlns:a16="http://schemas.microsoft.com/office/drawing/2014/main" id="{3A4F4ADE-9DF2-4216-8701-068A78F72793}"/>
              </a:ext>
            </a:extLst>
          </p:cNvPr>
          <p:cNvSpPr txBox="1"/>
          <p:nvPr/>
        </p:nvSpPr>
        <p:spPr>
          <a:xfrm>
            <a:off x="322981" y="4417677"/>
            <a:ext cx="5792932" cy="615553"/>
          </a:xfrm>
          <a:prstGeom prst="rect">
            <a:avLst/>
          </a:prstGeom>
          <a:noFill/>
        </p:spPr>
        <p:txBody>
          <a:bodyPr wrap="square" rtlCol="0">
            <a:spAutoFit/>
          </a:bodyPr>
          <a:lstStyle/>
          <a:p>
            <a:r>
              <a:rPr lang="en-US" b="1"/>
              <a:t>Kỹ thuật:</a:t>
            </a:r>
            <a:r>
              <a:rPr lang="en-US"/>
              <a:t> </a:t>
            </a:r>
            <a:r>
              <a:rPr lang="en-US" sz="1600"/>
              <a:t>Bọc các thuộc tính dữ liệu trong phạm vi private và cung cấp các hàm public (Getter/Setter) để truy cập an toàn.</a:t>
            </a:r>
          </a:p>
        </p:txBody>
      </p:sp>
      <p:sp>
        <p:nvSpPr>
          <p:cNvPr id="12" name="Hình chữ nhật 11">
            <a:extLst>
              <a:ext uri="{FF2B5EF4-FFF2-40B4-BE49-F238E27FC236}">
                <a16:creationId xmlns:a16="http://schemas.microsoft.com/office/drawing/2014/main" id="{9FA8EAC0-3A99-5B85-9F74-906316D46E0A}"/>
              </a:ext>
            </a:extLst>
          </p:cNvPr>
          <p:cNvSpPr/>
          <p:nvPr/>
        </p:nvSpPr>
        <p:spPr>
          <a:xfrm>
            <a:off x="6619007" y="1641172"/>
            <a:ext cx="4686302" cy="4129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rPr>
              <a:t>// Minh họa Kế thừa &amp; Đa hình</a:t>
            </a:r>
          </a:p>
          <a:p>
            <a:r>
              <a:rPr lang="en-US">
                <a:solidFill>
                  <a:schemeClr val="tx1"/>
                </a:solidFill>
                <a:latin typeface="Cascadia Code" panose="020B0609020000020004" pitchFamily="49" charset="0"/>
                <a:cs typeface="Cascadia Code" panose="020B0609020000020004" pitchFamily="49" charset="0"/>
              </a:rPr>
              <a:t>class Vattu : public Entity {</a:t>
            </a:r>
          </a:p>
          <a:p>
            <a:r>
              <a:rPr lang="en-US">
                <a:solidFill>
                  <a:schemeClr val="tx1"/>
                </a:solidFill>
                <a:latin typeface="Cascadia Code" panose="020B0609020000020004" pitchFamily="49" charset="0"/>
                <a:cs typeface="Cascadia Code" panose="020B0609020000020004" pitchFamily="49" charset="0"/>
              </a:rPr>
              <a:t>    private:</a:t>
            </a:r>
          </a:p>
          <a:p>
            <a:r>
              <a:rPr lang="en-US">
                <a:solidFill>
                  <a:schemeClr val="tx1"/>
                </a:solidFill>
              </a:rPr>
              <a:t>        </a:t>
            </a:r>
            <a:r>
              <a:rPr lang="en-US">
                <a:solidFill>
                  <a:schemeClr val="tx1"/>
                </a:solidFill>
                <a:latin typeface="Cascadia Code" panose="020B0609020000020004" pitchFamily="49" charset="0"/>
                <a:cs typeface="Cascadia Code" panose="020B0609020000020004" pitchFamily="49" charset="0"/>
              </a:rPr>
              <a:t>int soluong; </a:t>
            </a:r>
            <a:r>
              <a:rPr lang="en-US">
                <a:solidFill>
                  <a:schemeClr val="tx1"/>
                </a:solidFill>
              </a:rPr>
              <a:t>// Đóng gói</a:t>
            </a:r>
          </a:p>
          <a:p>
            <a:r>
              <a:rPr lang="en-US">
                <a:solidFill>
                  <a:schemeClr val="tx1"/>
                </a:solidFill>
              </a:rPr>
              <a:t>    </a:t>
            </a:r>
            <a:r>
              <a:rPr lang="en-US">
                <a:solidFill>
                  <a:schemeClr val="tx1"/>
                </a:solidFill>
                <a:latin typeface="Cascadia Code" panose="020B0609020000020004" pitchFamily="49" charset="0"/>
                <a:cs typeface="Cascadia Code" panose="020B0609020000020004" pitchFamily="49" charset="0"/>
              </a:rPr>
              <a:t>public:</a:t>
            </a:r>
          </a:p>
          <a:p>
            <a:r>
              <a:rPr lang="en-US">
                <a:solidFill>
                  <a:schemeClr val="tx1"/>
                </a:solidFill>
                <a:latin typeface="Cascadia Code" panose="020B0609020000020004" pitchFamily="49" charset="0"/>
                <a:cs typeface="Cascadia Code" panose="020B0609020000020004" pitchFamily="49" charset="0"/>
              </a:rPr>
              <a:t>     void xuat() const override; </a:t>
            </a:r>
            <a:r>
              <a:rPr lang="en-US">
                <a:solidFill>
                  <a:schemeClr val="tx1"/>
                </a:solidFill>
              </a:rPr>
              <a:t>// Đa hình</a:t>
            </a:r>
          </a:p>
          <a:p>
            <a:r>
              <a:rPr lang="en-US">
                <a:solidFill>
                  <a:schemeClr val="tx1"/>
                </a:solidFill>
                <a:latin typeface="Cascadia Code" panose="020B0609020000020004" pitchFamily="49" charset="0"/>
                <a:cs typeface="Cascadia Code" panose="020B0609020000020004" pitchFamily="49" charset="0"/>
              </a:rPr>
              <a:t>};</a:t>
            </a:r>
          </a:p>
          <a:p>
            <a:pPr algn="ctr"/>
            <a:endParaRPr lang="en-US"/>
          </a:p>
        </p:txBody>
      </p:sp>
    </p:spTree>
    <p:extLst>
      <p:ext uri="{BB962C8B-B14F-4D97-AF65-F5344CB8AC3E}">
        <p14:creationId xmlns:p14="http://schemas.microsoft.com/office/powerpoint/2010/main" val="80996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fade">
                                      <p:cBhvr>
                                        <p:cTn id="35" dur="1000"/>
                                        <p:tgtEl>
                                          <p:spTgt spid="8">
                                            <p:txEl>
                                              <p:pRg st="0" end="0"/>
                                            </p:txEl>
                                          </p:spTgt>
                                        </p:tgtEl>
                                      </p:cBhvr>
                                    </p:animEffect>
                                    <p:anim calcmode="lin" valueType="num">
                                      <p:cBhvr>
                                        <p:cTn id="3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1+#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nh chữ nhật 3">
            <a:extLst>
              <a:ext uri="{FF2B5EF4-FFF2-40B4-BE49-F238E27FC236}">
                <a16:creationId xmlns:a16="http://schemas.microsoft.com/office/drawing/2014/main" id="{21EDDC27-0BCB-72D3-546C-261541BD6F74}"/>
              </a:ext>
            </a:extLst>
          </p:cNvPr>
          <p:cNvSpPr/>
          <p:nvPr/>
        </p:nvSpPr>
        <p:spPr>
          <a:xfrm>
            <a:off x="-206415" y="-66893"/>
            <a:ext cx="12604830" cy="1226916"/>
          </a:xfrm>
          <a:prstGeom prst="rect">
            <a:avLst/>
          </a:prstGeom>
          <a:solidFill>
            <a:srgbClr val="1C5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9FD4C1AA-A754-DBA5-DED1-70AE5D5248E0}"/>
              </a:ext>
            </a:extLst>
          </p:cNvPr>
          <p:cNvSpPr txBox="1"/>
          <p:nvPr/>
        </p:nvSpPr>
        <p:spPr>
          <a:xfrm>
            <a:off x="4953241" y="265637"/>
            <a:ext cx="3762496" cy="523220"/>
          </a:xfrm>
          <a:prstGeom prst="rect">
            <a:avLst/>
          </a:prstGeom>
          <a:noFill/>
        </p:spPr>
        <p:txBody>
          <a:bodyPr wrap="square" rtlCol="0">
            <a:spAutoFit/>
          </a:bodyPr>
          <a:lstStyle/>
          <a:p>
            <a:r>
              <a:rPr lang="en-US" sz="2800">
                <a:solidFill>
                  <a:schemeClr val="bg1"/>
                </a:solidFill>
              </a:rPr>
              <a:t>Một số use case </a:t>
            </a:r>
          </a:p>
        </p:txBody>
      </p:sp>
      <p:sp>
        <p:nvSpPr>
          <p:cNvPr id="7" name="Hộp Văn bản 6">
            <a:extLst>
              <a:ext uri="{FF2B5EF4-FFF2-40B4-BE49-F238E27FC236}">
                <a16:creationId xmlns:a16="http://schemas.microsoft.com/office/drawing/2014/main" id="{7AAA9B4B-07BA-BA8E-EECD-702A5B685332}"/>
              </a:ext>
            </a:extLst>
          </p:cNvPr>
          <p:cNvSpPr txBox="1"/>
          <p:nvPr/>
        </p:nvSpPr>
        <p:spPr>
          <a:xfrm>
            <a:off x="162046" y="1365813"/>
            <a:ext cx="11867908" cy="646331"/>
          </a:xfrm>
          <a:prstGeom prst="rect">
            <a:avLst/>
          </a:prstGeom>
          <a:noFill/>
        </p:spPr>
        <p:txBody>
          <a:bodyPr wrap="square" rtlCol="0">
            <a:spAutoFit/>
          </a:bodyPr>
          <a:lstStyle/>
          <a:p>
            <a:r>
              <a:rPr lang="en-US" u="sng"/>
              <a:t>Do các use case có chức năng giống nhau như: thêm – Xem/Tìm – Sửa – Xóa. Lấy use case  “quản lý hóa đơn xuất” để minh họa các use case kia</a:t>
            </a:r>
          </a:p>
        </p:txBody>
      </p:sp>
      <p:pic>
        <p:nvPicPr>
          <p:cNvPr id="13" name="Hình ảnh 12">
            <a:extLst>
              <a:ext uri="{FF2B5EF4-FFF2-40B4-BE49-F238E27FC236}">
                <a16:creationId xmlns:a16="http://schemas.microsoft.com/office/drawing/2014/main" id="{F5C494AD-A5B6-6E82-60FC-00008CFA67A9}"/>
              </a:ext>
            </a:extLst>
          </p:cNvPr>
          <p:cNvPicPr>
            <a:picLocks noChangeAspect="1"/>
          </p:cNvPicPr>
          <p:nvPr/>
        </p:nvPicPr>
        <p:blipFill>
          <a:blip r:embed="rId2"/>
          <a:srcRect r="8110"/>
          <a:stretch>
            <a:fillRect/>
          </a:stretch>
        </p:blipFill>
        <p:spPr>
          <a:xfrm>
            <a:off x="841015" y="2519512"/>
            <a:ext cx="10509969" cy="3871778"/>
          </a:xfrm>
          <a:prstGeom prst="rect">
            <a:avLst/>
          </a:prstGeom>
        </p:spPr>
      </p:pic>
      <p:sp>
        <p:nvSpPr>
          <p:cNvPr id="16" name="Hộp Văn bản 15">
            <a:extLst>
              <a:ext uri="{FF2B5EF4-FFF2-40B4-BE49-F238E27FC236}">
                <a16:creationId xmlns:a16="http://schemas.microsoft.com/office/drawing/2014/main" id="{A6BFA99D-EA04-AEB0-2FFC-B10884C961C6}"/>
              </a:ext>
            </a:extLst>
          </p:cNvPr>
          <p:cNvSpPr txBox="1"/>
          <p:nvPr/>
        </p:nvSpPr>
        <p:spPr>
          <a:xfrm>
            <a:off x="358815" y="2033268"/>
            <a:ext cx="3437681" cy="369332"/>
          </a:xfrm>
          <a:prstGeom prst="rect">
            <a:avLst/>
          </a:prstGeom>
          <a:noFill/>
        </p:spPr>
        <p:txBody>
          <a:bodyPr wrap="square" rtlCol="0">
            <a:spAutoFit/>
          </a:bodyPr>
          <a:lstStyle/>
          <a:p>
            <a:r>
              <a:rPr lang="en-US" u="sng"/>
              <a:t>Thêm mới</a:t>
            </a:r>
          </a:p>
        </p:txBody>
      </p:sp>
    </p:spTree>
    <p:extLst>
      <p:ext uri="{BB962C8B-B14F-4D97-AF65-F5344CB8AC3E}">
        <p14:creationId xmlns:p14="http://schemas.microsoft.com/office/powerpoint/2010/main" val="261424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E905-5E7F-0479-C215-7A7B26A91B3F}"/>
            </a:ext>
          </a:extLst>
        </p:cNvPr>
        <p:cNvGrpSpPr/>
        <p:nvPr/>
      </p:nvGrpSpPr>
      <p:grpSpPr>
        <a:xfrm>
          <a:off x="0" y="0"/>
          <a:ext cx="0" cy="0"/>
          <a:chOff x="0" y="0"/>
          <a:chExt cx="0" cy="0"/>
        </a:xfrm>
      </p:grpSpPr>
      <p:sp>
        <p:nvSpPr>
          <p:cNvPr id="4" name="Hình chữ nhật 3">
            <a:extLst>
              <a:ext uri="{FF2B5EF4-FFF2-40B4-BE49-F238E27FC236}">
                <a16:creationId xmlns:a16="http://schemas.microsoft.com/office/drawing/2014/main" id="{AE8C8386-4A53-97B9-9DA1-33D2D349E4EE}"/>
              </a:ext>
            </a:extLst>
          </p:cNvPr>
          <p:cNvSpPr/>
          <p:nvPr/>
        </p:nvSpPr>
        <p:spPr>
          <a:xfrm>
            <a:off x="-206415" y="-66893"/>
            <a:ext cx="12604830" cy="1226916"/>
          </a:xfrm>
          <a:prstGeom prst="rect">
            <a:avLst/>
          </a:prstGeom>
          <a:solidFill>
            <a:srgbClr val="1C5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D0E3B3D7-BEEE-6753-91E0-5853504E94FD}"/>
              </a:ext>
            </a:extLst>
          </p:cNvPr>
          <p:cNvSpPr txBox="1"/>
          <p:nvPr/>
        </p:nvSpPr>
        <p:spPr>
          <a:xfrm>
            <a:off x="4953241" y="265637"/>
            <a:ext cx="3762496" cy="523220"/>
          </a:xfrm>
          <a:prstGeom prst="rect">
            <a:avLst/>
          </a:prstGeom>
          <a:noFill/>
        </p:spPr>
        <p:txBody>
          <a:bodyPr wrap="square" rtlCol="0">
            <a:spAutoFit/>
          </a:bodyPr>
          <a:lstStyle/>
          <a:p>
            <a:r>
              <a:rPr lang="en-US" sz="2800">
                <a:solidFill>
                  <a:schemeClr val="bg1"/>
                </a:solidFill>
              </a:rPr>
              <a:t>Một số use case </a:t>
            </a:r>
          </a:p>
        </p:txBody>
      </p:sp>
      <p:sp>
        <p:nvSpPr>
          <p:cNvPr id="7" name="Hộp Văn bản 6">
            <a:extLst>
              <a:ext uri="{FF2B5EF4-FFF2-40B4-BE49-F238E27FC236}">
                <a16:creationId xmlns:a16="http://schemas.microsoft.com/office/drawing/2014/main" id="{66834619-817B-4D08-E1E0-E633B5CD359E}"/>
              </a:ext>
            </a:extLst>
          </p:cNvPr>
          <p:cNvSpPr txBox="1"/>
          <p:nvPr/>
        </p:nvSpPr>
        <p:spPr>
          <a:xfrm>
            <a:off x="162046" y="1365813"/>
            <a:ext cx="11867908" cy="646331"/>
          </a:xfrm>
          <a:prstGeom prst="rect">
            <a:avLst/>
          </a:prstGeom>
          <a:noFill/>
        </p:spPr>
        <p:txBody>
          <a:bodyPr wrap="square" rtlCol="0">
            <a:spAutoFit/>
          </a:bodyPr>
          <a:lstStyle/>
          <a:p>
            <a:r>
              <a:rPr lang="en-US" u="sng"/>
              <a:t>Do các use case có chức năng giống nhau như: thêm – Xem/Tìm – Sửa – Xóa. Lấy use case  “quản lý hóa đơn xuất” để minh họa các use case kia</a:t>
            </a:r>
          </a:p>
        </p:txBody>
      </p:sp>
      <p:pic>
        <p:nvPicPr>
          <p:cNvPr id="11" name="Hình ảnh 10">
            <a:extLst>
              <a:ext uri="{FF2B5EF4-FFF2-40B4-BE49-F238E27FC236}">
                <a16:creationId xmlns:a16="http://schemas.microsoft.com/office/drawing/2014/main" id="{63244405-56F7-58B7-93D2-81E212DD5723}"/>
              </a:ext>
            </a:extLst>
          </p:cNvPr>
          <p:cNvPicPr>
            <a:picLocks noChangeAspect="1"/>
          </p:cNvPicPr>
          <p:nvPr/>
        </p:nvPicPr>
        <p:blipFill>
          <a:blip r:embed="rId3"/>
          <a:stretch>
            <a:fillRect/>
          </a:stretch>
        </p:blipFill>
        <p:spPr>
          <a:xfrm>
            <a:off x="419819" y="2769097"/>
            <a:ext cx="11352362" cy="3823266"/>
          </a:xfrm>
          <a:prstGeom prst="rect">
            <a:avLst/>
          </a:prstGeom>
        </p:spPr>
      </p:pic>
      <p:sp>
        <p:nvSpPr>
          <p:cNvPr id="17" name="Hộp Văn bản 16">
            <a:extLst>
              <a:ext uri="{FF2B5EF4-FFF2-40B4-BE49-F238E27FC236}">
                <a16:creationId xmlns:a16="http://schemas.microsoft.com/office/drawing/2014/main" id="{3C88BA9B-4CBB-62FF-CB1B-E7EF448C4848}"/>
              </a:ext>
            </a:extLst>
          </p:cNvPr>
          <p:cNvSpPr txBox="1"/>
          <p:nvPr/>
        </p:nvSpPr>
        <p:spPr>
          <a:xfrm>
            <a:off x="162046" y="2189814"/>
            <a:ext cx="1967696" cy="369332"/>
          </a:xfrm>
          <a:prstGeom prst="rect">
            <a:avLst/>
          </a:prstGeom>
          <a:noFill/>
        </p:spPr>
        <p:txBody>
          <a:bodyPr wrap="square" rtlCol="0">
            <a:spAutoFit/>
          </a:bodyPr>
          <a:lstStyle/>
          <a:p>
            <a:r>
              <a:rPr lang="en-US" u="sng"/>
              <a:t>Sửa</a:t>
            </a:r>
          </a:p>
        </p:txBody>
      </p:sp>
    </p:spTree>
    <p:extLst>
      <p:ext uri="{BB962C8B-B14F-4D97-AF65-F5344CB8AC3E}">
        <p14:creationId xmlns:p14="http://schemas.microsoft.com/office/powerpoint/2010/main" val="44149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F1B3-37B6-3165-473F-490BEF55E9B3}"/>
            </a:ext>
          </a:extLst>
        </p:cNvPr>
        <p:cNvGrpSpPr/>
        <p:nvPr/>
      </p:nvGrpSpPr>
      <p:grpSpPr>
        <a:xfrm>
          <a:off x="0" y="0"/>
          <a:ext cx="0" cy="0"/>
          <a:chOff x="0" y="0"/>
          <a:chExt cx="0" cy="0"/>
        </a:xfrm>
      </p:grpSpPr>
      <p:sp>
        <p:nvSpPr>
          <p:cNvPr id="4" name="Hình chữ nhật 3">
            <a:extLst>
              <a:ext uri="{FF2B5EF4-FFF2-40B4-BE49-F238E27FC236}">
                <a16:creationId xmlns:a16="http://schemas.microsoft.com/office/drawing/2014/main" id="{D948D641-39C1-342F-06AE-F09AEC212BD5}"/>
              </a:ext>
            </a:extLst>
          </p:cNvPr>
          <p:cNvSpPr/>
          <p:nvPr/>
        </p:nvSpPr>
        <p:spPr>
          <a:xfrm>
            <a:off x="-206415" y="-66893"/>
            <a:ext cx="12604830" cy="1226916"/>
          </a:xfrm>
          <a:prstGeom prst="rect">
            <a:avLst/>
          </a:prstGeom>
          <a:solidFill>
            <a:srgbClr val="1C5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C732F3D6-A0F2-AC25-5373-29C59DBCC15D}"/>
              </a:ext>
            </a:extLst>
          </p:cNvPr>
          <p:cNvSpPr txBox="1"/>
          <p:nvPr/>
        </p:nvSpPr>
        <p:spPr>
          <a:xfrm>
            <a:off x="4953241" y="265637"/>
            <a:ext cx="3762496" cy="523220"/>
          </a:xfrm>
          <a:prstGeom prst="rect">
            <a:avLst/>
          </a:prstGeom>
          <a:noFill/>
        </p:spPr>
        <p:txBody>
          <a:bodyPr wrap="square" rtlCol="0">
            <a:spAutoFit/>
          </a:bodyPr>
          <a:lstStyle/>
          <a:p>
            <a:r>
              <a:rPr lang="en-US" sz="2800">
                <a:solidFill>
                  <a:schemeClr val="bg1"/>
                </a:solidFill>
              </a:rPr>
              <a:t>Một số use case </a:t>
            </a:r>
          </a:p>
        </p:txBody>
      </p:sp>
      <p:sp>
        <p:nvSpPr>
          <p:cNvPr id="7" name="Hộp Văn bản 6">
            <a:extLst>
              <a:ext uri="{FF2B5EF4-FFF2-40B4-BE49-F238E27FC236}">
                <a16:creationId xmlns:a16="http://schemas.microsoft.com/office/drawing/2014/main" id="{33E867AF-8402-9069-19D9-E84E69EC5F73}"/>
              </a:ext>
            </a:extLst>
          </p:cNvPr>
          <p:cNvSpPr txBox="1"/>
          <p:nvPr/>
        </p:nvSpPr>
        <p:spPr>
          <a:xfrm>
            <a:off x="162046" y="1365813"/>
            <a:ext cx="11867908" cy="646331"/>
          </a:xfrm>
          <a:prstGeom prst="rect">
            <a:avLst/>
          </a:prstGeom>
          <a:noFill/>
        </p:spPr>
        <p:txBody>
          <a:bodyPr wrap="square" rtlCol="0">
            <a:spAutoFit/>
          </a:bodyPr>
          <a:lstStyle/>
          <a:p>
            <a:r>
              <a:rPr lang="en-US" u="sng"/>
              <a:t>Do các use case có chức năng giống nhau như: thêm – Xem/Tìm – Sửa – Xóa. Lấy use case  “quản lý hóa đơn xuất” để minh họa các use case kia</a:t>
            </a:r>
          </a:p>
        </p:txBody>
      </p:sp>
      <p:pic>
        <p:nvPicPr>
          <p:cNvPr id="15" name="Hình ảnh 14">
            <a:extLst>
              <a:ext uri="{FF2B5EF4-FFF2-40B4-BE49-F238E27FC236}">
                <a16:creationId xmlns:a16="http://schemas.microsoft.com/office/drawing/2014/main" id="{B6D9746C-C20D-2E10-DB5E-26B5780AF771}"/>
              </a:ext>
            </a:extLst>
          </p:cNvPr>
          <p:cNvPicPr>
            <a:picLocks noChangeAspect="1"/>
          </p:cNvPicPr>
          <p:nvPr/>
        </p:nvPicPr>
        <p:blipFill>
          <a:blip r:embed="rId2"/>
          <a:srcRect r="23060"/>
          <a:stretch>
            <a:fillRect/>
          </a:stretch>
        </p:blipFill>
        <p:spPr>
          <a:xfrm>
            <a:off x="603900" y="2861840"/>
            <a:ext cx="10984200" cy="3272743"/>
          </a:xfrm>
          <a:prstGeom prst="rect">
            <a:avLst/>
          </a:prstGeom>
        </p:spPr>
      </p:pic>
      <p:sp>
        <p:nvSpPr>
          <p:cNvPr id="18" name="Hộp Văn bản 17">
            <a:extLst>
              <a:ext uri="{FF2B5EF4-FFF2-40B4-BE49-F238E27FC236}">
                <a16:creationId xmlns:a16="http://schemas.microsoft.com/office/drawing/2014/main" id="{8754C604-4422-86EC-2B07-224344800D11}"/>
              </a:ext>
            </a:extLst>
          </p:cNvPr>
          <p:cNvSpPr txBox="1"/>
          <p:nvPr/>
        </p:nvSpPr>
        <p:spPr>
          <a:xfrm>
            <a:off x="162046" y="2106692"/>
            <a:ext cx="733063" cy="369332"/>
          </a:xfrm>
          <a:prstGeom prst="rect">
            <a:avLst/>
          </a:prstGeom>
          <a:noFill/>
        </p:spPr>
        <p:txBody>
          <a:bodyPr wrap="square" rtlCol="0">
            <a:spAutoFit/>
          </a:bodyPr>
          <a:lstStyle/>
          <a:p>
            <a:r>
              <a:rPr lang="en-US" u="sng"/>
              <a:t>Xóa</a:t>
            </a:r>
          </a:p>
        </p:txBody>
      </p:sp>
    </p:spTree>
    <p:extLst>
      <p:ext uri="{BB962C8B-B14F-4D97-AF65-F5344CB8AC3E}">
        <p14:creationId xmlns:p14="http://schemas.microsoft.com/office/powerpoint/2010/main" val="158353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4397A-B334-00F6-1A79-A6075293918C}"/>
            </a:ext>
          </a:extLst>
        </p:cNvPr>
        <p:cNvGrpSpPr/>
        <p:nvPr/>
      </p:nvGrpSpPr>
      <p:grpSpPr>
        <a:xfrm>
          <a:off x="0" y="0"/>
          <a:ext cx="0" cy="0"/>
          <a:chOff x="0" y="0"/>
          <a:chExt cx="0" cy="0"/>
        </a:xfrm>
      </p:grpSpPr>
      <p:sp>
        <p:nvSpPr>
          <p:cNvPr id="4" name="Hình chữ nhật 3">
            <a:extLst>
              <a:ext uri="{FF2B5EF4-FFF2-40B4-BE49-F238E27FC236}">
                <a16:creationId xmlns:a16="http://schemas.microsoft.com/office/drawing/2014/main" id="{CF0D7CA2-20C4-7FA9-6AE8-AEF07A3F5D0E}"/>
              </a:ext>
            </a:extLst>
          </p:cNvPr>
          <p:cNvSpPr/>
          <p:nvPr/>
        </p:nvSpPr>
        <p:spPr>
          <a:xfrm>
            <a:off x="-206415" y="-66893"/>
            <a:ext cx="12604830" cy="1226916"/>
          </a:xfrm>
          <a:prstGeom prst="rect">
            <a:avLst/>
          </a:prstGeom>
          <a:solidFill>
            <a:srgbClr val="1C5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BF6ED57B-54EE-0E59-6E14-DB366356C7FC}"/>
              </a:ext>
            </a:extLst>
          </p:cNvPr>
          <p:cNvSpPr txBox="1"/>
          <p:nvPr/>
        </p:nvSpPr>
        <p:spPr>
          <a:xfrm>
            <a:off x="4953241" y="265637"/>
            <a:ext cx="3762496" cy="523220"/>
          </a:xfrm>
          <a:prstGeom prst="rect">
            <a:avLst/>
          </a:prstGeom>
          <a:noFill/>
        </p:spPr>
        <p:txBody>
          <a:bodyPr wrap="square" rtlCol="0">
            <a:spAutoFit/>
          </a:bodyPr>
          <a:lstStyle/>
          <a:p>
            <a:r>
              <a:rPr lang="en-US" sz="2800">
                <a:solidFill>
                  <a:schemeClr val="bg1"/>
                </a:solidFill>
              </a:rPr>
              <a:t>Một số use case </a:t>
            </a:r>
          </a:p>
        </p:txBody>
      </p:sp>
      <p:sp>
        <p:nvSpPr>
          <p:cNvPr id="7" name="Hộp Văn bản 6">
            <a:extLst>
              <a:ext uri="{FF2B5EF4-FFF2-40B4-BE49-F238E27FC236}">
                <a16:creationId xmlns:a16="http://schemas.microsoft.com/office/drawing/2014/main" id="{79790024-E6C3-05BC-7AA0-4D92111100EE}"/>
              </a:ext>
            </a:extLst>
          </p:cNvPr>
          <p:cNvSpPr txBox="1"/>
          <p:nvPr/>
        </p:nvSpPr>
        <p:spPr>
          <a:xfrm>
            <a:off x="162046" y="1365813"/>
            <a:ext cx="11867908" cy="646331"/>
          </a:xfrm>
          <a:prstGeom prst="rect">
            <a:avLst/>
          </a:prstGeom>
          <a:noFill/>
        </p:spPr>
        <p:txBody>
          <a:bodyPr wrap="square" rtlCol="0">
            <a:spAutoFit/>
          </a:bodyPr>
          <a:lstStyle/>
          <a:p>
            <a:r>
              <a:rPr lang="en-US" u="sng"/>
              <a:t>Do các use case có chức năng giống nhau như: thêm – Xem/Tìm – Sửa – Xóa. Lấy use case  “quản lý hóa đơn xuất” để minh họa các use case kia</a:t>
            </a:r>
          </a:p>
        </p:txBody>
      </p:sp>
      <p:sp>
        <p:nvSpPr>
          <p:cNvPr id="23" name="Hộp Văn bản 22">
            <a:extLst>
              <a:ext uri="{FF2B5EF4-FFF2-40B4-BE49-F238E27FC236}">
                <a16:creationId xmlns:a16="http://schemas.microsoft.com/office/drawing/2014/main" id="{00E2C170-700D-37EF-98A2-56FFBE466781}"/>
              </a:ext>
            </a:extLst>
          </p:cNvPr>
          <p:cNvSpPr txBox="1"/>
          <p:nvPr/>
        </p:nvSpPr>
        <p:spPr>
          <a:xfrm>
            <a:off x="162046" y="2217934"/>
            <a:ext cx="1253924" cy="369332"/>
          </a:xfrm>
          <a:prstGeom prst="rect">
            <a:avLst/>
          </a:prstGeom>
          <a:noFill/>
        </p:spPr>
        <p:txBody>
          <a:bodyPr wrap="square" rtlCol="0">
            <a:spAutoFit/>
          </a:bodyPr>
          <a:lstStyle/>
          <a:p>
            <a:r>
              <a:rPr lang="en-US" u="sng"/>
              <a:t>Tìm kiếm</a:t>
            </a:r>
          </a:p>
        </p:txBody>
      </p:sp>
      <p:pic>
        <p:nvPicPr>
          <p:cNvPr id="3" name="Hình ảnh 2">
            <a:extLst>
              <a:ext uri="{FF2B5EF4-FFF2-40B4-BE49-F238E27FC236}">
                <a16:creationId xmlns:a16="http://schemas.microsoft.com/office/drawing/2014/main" id="{A652F5D2-7265-35D1-C598-2383A942F1EC}"/>
              </a:ext>
            </a:extLst>
          </p:cNvPr>
          <p:cNvPicPr>
            <a:picLocks noChangeAspect="1"/>
          </p:cNvPicPr>
          <p:nvPr/>
        </p:nvPicPr>
        <p:blipFill>
          <a:blip r:embed="rId2"/>
          <a:stretch>
            <a:fillRect/>
          </a:stretch>
        </p:blipFill>
        <p:spPr>
          <a:xfrm>
            <a:off x="747812" y="3201855"/>
            <a:ext cx="10696376" cy="2137759"/>
          </a:xfrm>
          <a:prstGeom prst="rect">
            <a:avLst/>
          </a:prstGeom>
        </p:spPr>
      </p:pic>
    </p:spTree>
    <p:extLst>
      <p:ext uri="{BB962C8B-B14F-4D97-AF65-F5344CB8AC3E}">
        <p14:creationId xmlns:p14="http://schemas.microsoft.com/office/powerpoint/2010/main" val="199655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nh chữ nhật 3">
            <a:extLst>
              <a:ext uri="{FF2B5EF4-FFF2-40B4-BE49-F238E27FC236}">
                <a16:creationId xmlns:a16="http://schemas.microsoft.com/office/drawing/2014/main" id="{B6A58AE1-4D84-4631-3CE4-9E1E8F765B2D}"/>
              </a:ext>
            </a:extLst>
          </p:cNvPr>
          <p:cNvSpPr/>
          <p:nvPr/>
        </p:nvSpPr>
        <p:spPr>
          <a:xfrm>
            <a:off x="-544010" y="-127322"/>
            <a:ext cx="13380334" cy="109959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FEE248FE-A4EF-7AE0-7F62-E045DB126F18}"/>
              </a:ext>
            </a:extLst>
          </p:cNvPr>
          <p:cNvSpPr txBox="1"/>
          <p:nvPr/>
        </p:nvSpPr>
        <p:spPr>
          <a:xfrm>
            <a:off x="3532208" y="287499"/>
            <a:ext cx="5127584" cy="523220"/>
          </a:xfrm>
          <a:prstGeom prst="rect">
            <a:avLst/>
          </a:prstGeom>
          <a:noFill/>
        </p:spPr>
        <p:txBody>
          <a:bodyPr wrap="square" rtlCol="0">
            <a:spAutoFit/>
          </a:bodyPr>
          <a:lstStyle/>
          <a:p>
            <a:r>
              <a:rPr lang="en-US" sz="2800">
                <a:solidFill>
                  <a:schemeClr val="bg1"/>
                </a:solidFill>
              </a:rPr>
              <a:t>Rủi Ro &amp; Hướng Xử Lý Hệ Thống </a:t>
            </a:r>
          </a:p>
        </p:txBody>
      </p:sp>
      <p:sp>
        <p:nvSpPr>
          <p:cNvPr id="6" name="Hộp Văn bản 5">
            <a:extLst>
              <a:ext uri="{FF2B5EF4-FFF2-40B4-BE49-F238E27FC236}">
                <a16:creationId xmlns:a16="http://schemas.microsoft.com/office/drawing/2014/main" id="{39325539-72D0-751C-131E-80AA3386BA57}"/>
              </a:ext>
            </a:extLst>
          </p:cNvPr>
          <p:cNvSpPr txBox="1"/>
          <p:nvPr/>
        </p:nvSpPr>
        <p:spPr>
          <a:xfrm>
            <a:off x="108031" y="1184940"/>
            <a:ext cx="5856790" cy="378450"/>
          </a:xfrm>
          <a:prstGeom prst="rect">
            <a:avLst/>
          </a:prstGeom>
          <a:noFill/>
        </p:spPr>
        <p:txBody>
          <a:bodyPr wrap="square" rtlCol="0">
            <a:spAutoFit/>
          </a:bodyPr>
          <a:lstStyle/>
          <a:p>
            <a:r>
              <a:rPr lang="en-US"/>
              <a:t>1. Rủi Ro Kỹ Thuật &amp; Dữ Liệu</a:t>
            </a:r>
          </a:p>
        </p:txBody>
      </p:sp>
      <p:sp>
        <p:nvSpPr>
          <p:cNvPr id="7" name="Hộp Văn bản 6">
            <a:extLst>
              <a:ext uri="{FF2B5EF4-FFF2-40B4-BE49-F238E27FC236}">
                <a16:creationId xmlns:a16="http://schemas.microsoft.com/office/drawing/2014/main" id="{F4E3F1EE-DCEE-242F-F30C-C86D4E4EC71D}"/>
              </a:ext>
            </a:extLst>
          </p:cNvPr>
          <p:cNvSpPr txBox="1"/>
          <p:nvPr/>
        </p:nvSpPr>
        <p:spPr>
          <a:xfrm>
            <a:off x="451413" y="1573099"/>
            <a:ext cx="10718157" cy="615553"/>
          </a:xfrm>
          <a:prstGeom prst="rect">
            <a:avLst/>
          </a:prstGeom>
          <a:noFill/>
        </p:spPr>
        <p:txBody>
          <a:bodyPr wrap="square" rtlCol="0">
            <a:spAutoFit/>
          </a:bodyPr>
          <a:lstStyle/>
          <a:p>
            <a:r>
              <a:rPr lang="en-US"/>
              <a:t>Rủi ro 1: </a:t>
            </a:r>
            <a:r>
              <a:rPr lang="en-US" sz="1600"/>
              <a:t>File dữ liệu chưa tồn tại / thư mục bị thiếu ở lần chạy đầu tiên</a:t>
            </a:r>
          </a:p>
          <a:p>
            <a:r>
              <a:rPr lang="en-US" sz="1600"/>
              <a:t>Cách xử lý trong Code: ifstream mở thất bại được bắt trong loadFromFile(), coi là danh sách rỗng</a:t>
            </a:r>
          </a:p>
        </p:txBody>
      </p:sp>
      <p:sp>
        <p:nvSpPr>
          <p:cNvPr id="8" name="Hộp Văn bản 7">
            <a:extLst>
              <a:ext uri="{FF2B5EF4-FFF2-40B4-BE49-F238E27FC236}">
                <a16:creationId xmlns:a16="http://schemas.microsoft.com/office/drawing/2014/main" id="{96ECCC8A-9A30-9461-C57F-7A4DBEDE535D}"/>
              </a:ext>
            </a:extLst>
          </p:cNvPr>
          <p:cNvSpPr txBox="1"/>
          <p:nvPr/>
        </p:nvSpPr>
        <p:spPr>
          <a:xfrm>
            <a:off x="451413" y="2290227"/>
            <a:ext cx="11505235" cy="861774"/>
          </a:xfrm>
          <a:prstGeom prst="rect">
            <a:avLst/>
          </a:prstGeom>
          <a:noFill/>
        </p:spPr>
        <p:txBody>
          <a:bodyPr wrap="square" rtlCol="0">
            <a:spAutoFit/>
          </a:bodyPr>
          <a:lstStyle/>
          <a:p>
            <a:r>
              <a:rPr lang="en-US"/>
              <a:t>Rủi ro 2: </a:t>
            </a:r>
            <a:r>
              <a:rPr lang="en-US" sz="1600"/>
              <a:t>Người dùng nhập sai định dạng / dữ liệu không hợp lệ</a:t>
            </a:r>
          </a:p>
          <a:p>
            <a:r>
              <a:rPr lang="en-US" sz="1600"/>
              <a:t>Cách xử lý trong Code: Các hàm NhapSoMenu(), NhapSocapnhat() bọc trong try/catch bắt ngoại lệ invalid_argument / out_of_range và yêu cầu nhập lại thay vì dừng chương trình. </a:t>
            </a:r>
          </a:p>
        </p:txBody>
      </p:sp>
      <p:sp>
        <p:nvSpPr>
          <p:cNvPr id="9" name="Hộp Văn bản 8">
            <a:extLst>
              <a:ext uri="{FF2B5EF4-FFF2-40B4-BE49-F238E27FC236}">
                <a16:creationId xmlns:a16="http://schemas.microsoft.com/office/drawing/2014/main" id="{EC2A7965-DC6D-A177-C1BC-9B7EE30E5404}"/>
              </a:ext>
            </a:extLst>
          </p:cNvPr>
          <p:cNvSpPr txBox="1"/>
          <p:nvPr/>
        </p:nvSpPr>
        <p:spPr>
          <a:xfrm>
            <a:off x="108031" y="3253576"/>
            <a:ext cx="6095999" cy="369332"/>
          </a:xfrm>
          <a:prstGeom prst="rect">
            <a:avLst/>
          </a:prstGeom>
          <a:noFill/>
        </p:spPr>
        <p:txBody>
          <a:bodyPr wrap="square" rtlCol="0">
            <a:spAutoFit/>
          </a:bodyPr>
          <a:lstStyle/>
          <a:p>
            <a:r>
              <a:rPr lang="en-US"/>
              <a:t>2. Rủi Ro Nghiệp Vụ &amp; Báo Lỗi Ràng Buộc</a:t>
            </a:r>
          </a:p>
        </p:txBody>
      </p:sp>
      <p:sp>
        <p:nvSpPr>
          <p:cNvPr id="10" name="Hộp Văn bản 9">
            <a:extLst>
              <a:ext uri="{FF2B5EF4-FFF2-40B4-BE49-F238E27FC236}">
                <a16:creationId xmlns:a16="http://schemas.microsoft.com/office/drawing/2014/main" id="{CFFD98B8-C34D-5ED4-460A-8B522A15CBDA}"/>
              </a:ext>
            </a:extLst>
          </p:cNvPr>
          <p:cNvSpPr txBox="1"/>
          <p:nvPr/>
        </p:nvSpPr>
        <p:spPr>
          <a:xfrm>
            <a:off x="451413" y="3900444"/>
            <a:ext cx="9329194" cy="861774"/>
          </a:xfrm>
          <a:prstGeom prst="rect">
            <a:avLst/>
          </a:prstGeom>
          <a:noFill/>
        </p:spPr>
        <p:txBody>
          <a:bodyPr wrap="square" rtlCol="0">
            <a:spAutoFit/>
          </a:bodyPr>
          <a:lstStyle/>
          <a:p>
            <a:r>
              <a:rPr lang="en-US"/>
              <a:t>Rủi ro 3: </a:t>
            </a:r>
            <a:r>
              <a:rPr lang="en-US" sz="1600"/>
              <a:t>Xuất kho vượt quá số lượng tồn hiện có</a:t>
            </a:r>
          </a:p>
          <a:p>
            <a:r>
              <a:rPr lang="en-US" sz="1600"/>
              <a:t>Cách sử lý:menuphieuxuat so sánh vt-&gt;getsoluong() với số lượng xuất, ném ValidationException nếu không đủ</a:t>
            </a:r>
          </a:p>
        </p:txBody>
      </p:sp>
      <p:sp>
        <p:nvSpPr>
          <p:cNvPr id="11" name="Hộp Văn bản 10">
            <a:extLst>
              <a:ext uri="{FF2B5EF4-FFF2-40B4-BE49-F238E27FC236}">
                <a16:creationId xmlns:a16="http://schemas.microsoft.com/office/drawing/2014/main" id="{59C58001-905A-CFD0-EDEB-BB54F3F9C730}"/>
              </a:ext>
            </a:extLst>
          </p:cNvPr>
          <p:cNvSpPr txBox="1"/>
          <p:nvPr/>
        </p:nvSpPr>
        <p:spPr>
          <a:xfrm>
            <a:off x="451413" y="4977124"/>
            <a:ext cx="9329194" cy="615553"/>
          </a:xfrm>
          <a:prstGeom prst="rect">
            <a:avLst/>
          </a:prstGeom>
          <a:noFill/>
        </p:spPr>
        <p:txBody>
          <a:bodyPr wrap="square" rtlCol="0">
            <a:spAutoFit/>
          </a:bodyPr>
          <a:lstStyle/>
          <a:p>
            <a:r>
              <a:rPr lang="en-US"/>
              <a:t>Rủi ro 4: </a:t>
            </a:r>
            <a:r>
              <a:rPr lang="en-US" sz="1600"/>
              <a:t>Nhập liệu sai kiểu (chữ thay vì số)</a:t>
            </a:r>
          </a:p>
          <a:p>
            <a:r>
              <a:rPr lang="en-US" sz="1600"/>
              <a:t>Cách sử lý:NhapSoMenu() và NhapSocapnhat() bắt invalid_argument/out_of_range, yêu cầu nhập lại</a:t>
            </a:r>
          </a:p>
        </p:txBody>
      </p:sp>
    </p:spTree>
    <p:extLst>
      <p:ext uri="{BB962C8B-B14F-4D97-AF65-F5344CB8AC3E}">
        <p14:creationId xmlns:p14="http://schemas.microsoft.com/office/powerpoint/2010/main" val="353967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000"/>
                                        <p:tgtEl>
                                          <p:spTgt spid="10">
                                            <p:txEl>
                                              <p:pRg st="0" end="0"/>
                                            </p:txEl>
                                          </p:spTgt>
                                        </p:tgtEl>
                                      </p:cBhvr>
                                    </p:animEffect>
                                    <p:anim calcmode="lin" valueType="num">
                                      <p:cBhvr>
                                        <p:cTn id="3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1" end="1"/>
                                            </p:txEl>
                                          </p:spTgt>
                                        </p:tgtEl>
                                        <p:attrNameLst>
                                          <p:attrName>style.visibility</p:attrName>
                                        </p:attrNameLst>
                                      </p:cBhvr>
                                      <p:to>
                                        <p:strVal val="visible"/>
                                      </p:to>
                                    </p:set>
                                    <p:animEffect transition="in" filter="fade">
                                      <p:cBhvr>
                                        <p:cTn id="40" dur="1000"/>
                                        <p:tgtEl>
                                          <p:spTgt spid="10">
                                            <p:txEl>
                                              <p:pRg st="1" end="1"/>
                                            </p:txEl>
                                          </p:spTgt>
                                        </p:tgtEl>
                                      </p:cBhvr>
                                    </p:animEffect>
                                    <p:anim calcmode="lin" valueType="num">
                                      <p:cBhvr>
                                        <p:cTn id="41"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fade">
                                      <p:cBhvr>
                                        <p:cTn id="47" dur="1000"/>
                                        <p:tgtEl>
                                          <p:spTgt spid="11">
                                            <p:txEl>
                                              <p:pRg st="0" end="0"/>
                                            </p:txEl>
                                          </p:spTgt>
                                        </p:tgtEl>
                                      </p:cBhvr>
                                    </p:animEffect>
                                    <p:anim calcmode="lin" valueType="num">
                                      <p:cBhvr>
                                        <p:cTn id="4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xEl>
                                              <p:pRg st="1" end="1"/>
                                            </p:txEl>
                                          </p:spTgt>
                                        </p:tgtEl>
                                        <p:attrNameLst>
                                          <p:attrName>style.visibility</p:attrName>
                                        </p:attrNameLst>
                                      </p:cBhvr>
                                      <p:to>
                                        <p:strVal val="visible"/>
                                      </p:to>
                                    </p:set>
                                    <p:animEffect transition="in" filter="fade">
                                      <p:cBhvr>
                                        <p:cTn id="52" dur="1000"/>
                                        <p:tgtEl>
                                          <p:spTgt spid="11">
                                            <p:txEl>
                                              <p:pRg st="1" end="1"/>
                                            </p:txEl>
                                          </p:spTgt>
                                        </p:tgtEl>
                                      </p:cBhvr>
                                    </p:animEffect>
                                    <p:anim calcmode="lin" valueType="num">
                                      <p:cBhvr>
                                        <p:cTn id="53"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build="allAtOnce"/>
      <p:bldP spid="11"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77663-0051-4589-F014-1ABE237EFC6E}"/>
            </a:ext>
          </a:extLst>
        </p:cNvPr>
        <p:cNvGrpSpPr/>
        <p:nvPr/>
      </p:nvGrpSpPr>
      <p:grpSpPr>
        <a:xfrm>
          <a:off x="0" y="0"/>
          <a:ext cx="0" cy="0"/>
          <a:chOff x="0" y="0"/>
          <a:chExt cx="0" cy="0"/>
        </a:xfrm>
      </p:grpSpPr>
      <p:sp>
        <p:nvSpPr>
          <p:cNvPr id="2" name="Hình chữ nhật 1">
            <a:extLst>
              <a:ext uri="{FF2B5EF4-FFF2-40B4-BE49-F238E27FC236}">
                <a16:creationId xmlns:a16="http://schemas.microsoft.com/office/drawing/2014/main" id="{B816B777-5336-A757-5AA5-E837B7EEC9F9}"/>
              </a:ext>
            </a:extLst>
          </p:cNvPr>
          <p:cNvSpPr/>
          <p:nvPr/>
        </p:nvSpPr>
        <p:spPr>
          <a:xfrm>
            <a:off x="-428263" y="-380785"/>
            <a:ext cx="13299311" cy="144683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ộp Văn bản 2">
            <a:extLst>
              <a:ext uri="{FF2B5EF4-FFF2-40B4-BE49-F238E27FC236}">
                <a16:creationId xmlns:a16="http://schemas.microsoft.com/office/drawing/2014/main" id="{14320887-188F-7FF1-4B4B-546CE8075950}"/>
              </a:ext>
            </a:extLst>
          </p:cNvPr>
          <p:cNvSpPr txBox="1"/>
          <p:nvPr/>
        </p:nvSpPr>
        <p:spPr>
          <a:xfrm>
            <a:off x="4504481" y="274293"/>
            <a:ext cx="3183038" cy="523220"/>
          </a:xfrm>
          <a:prstGeom prst="rect">
            <a:avLst/>
          </a:prstGeom>
          <a:noFill/>
        </p:spPr>
        <p:txBody>
          <a:bodyPr wrap="square" rtlCol="0">
            <a:spAutoFit/>
          </a:bodyPr>
          <a:lstStyle/>
          <a:p>
            <a:r>
              <a:rPr lang="en-US" sz="2800">
                <a:solidFill>
                  <a:schemeClr val="bg1"/>
                </a:solidFill>
              </a:rPr>
              <a:t>Hướng phát triển </a:t>
            </a:r>
          </a:p>
        </p:txBody>
      </p:sp>
      <p:sp>
        <p:nvSpPr>
          <p:cNvPr id="12" name="Hộp Văn bản 11">
            <a:extLst>
              <a:ext uri="{FF2B5EF4-FFF2-40B4-BE49-F238E27FC236}">
                <a16:creationId xmlns:a16="http://schemas.microsoft.com/office/drawing/2014/main" id="{F536C281-5F15-DDF4-9B4F-61685160D71D}"/>
              </a:ext>
            </a:extLst>
          </p:cNvPr>
          <p:cNvSpPr txBox="1"/>
          <p:nvPr/>
        </p:nvSpPr>
        <p:spPr>
          <a:xfrm>
            <a:off x="0" y="1273215"/>
            <a:ext cx="5069711" cy="646331"/>
          </a:xfrm>
          <a:prstGeom prst="rect">
            <a:avLst/>
          </a:prstGeom>
          <a:noFill/>
        </p:spPr>
        <p:txBody>
          <a:bodyPr wrap="square" rtlCol="0">
            <a:spAutoFit/>
          </a:bodyPr>
          <a:lstStyle/>
          <a:p>
            <a:r>
              <a:rPr lang="en-US"/>
              <a:t>1. Nâng cấp ràng buộc toàn vẹn dữ liệu</a:t>
            </a:r>
          </a:p>
          <a:p>
            <a:endParaRPr lang="en-US"/>
          </a:p>
        </p:txBody>
      </p:sp>
      <p:sp>
        <p:nvSpPr>
          <p:cNvPr id="13" name="Hộp Văn bản 12">
            <a:extLst>
              <a:ext uri="{FF2B5EF4-FFF2-40B4-BE49-F238E27FC236}">
                <a16:creationId xmlns:a16="http://schemas.microsoft.com/office/drawing/2014/main" id="{1D6B3314-B085-0067-F967-757F35D95F36}"/>
              </a:ext>
            </a:extLst>
          </p:cNvPr>
          <p:cNvSpPr txBox="1"/>
          <p:nvPr/>
        </p:nvSpPr>
        <p:spPr>
          <a:xfrm>
            <a:off x="219920" y="1737535"/>
            <a:ext cx="6643866" cy="584775"/>
          </a:xfrm>
          <a:prstGeom prst="rect">
            <a:avLst/>
          </a:prstGeom>
          <a:noFill/>
        </p:spPr>
        <p:txBody>
          <a:bodyPr wrap="square" rtlCol="0">
            <a:spAutoFit/>
          </a:bodyPr>
          <a:lstStyle/>
          <a:p>
            <a:r>
              <a:rPr lang="en-US" sz="1600"/>
              <a:t>Bổ sung cơ chế kiểm tra ràng buộc tham chiếu chéo giữa các đối tượng khi thực hiện thao tác xóa dữ liệu.</a:t>
            </a:r>
          </a:p>
        </p:txBody>
      </p:sp>
      <p:sp>
        <p:nvSpPr>
          <p:cNvPr id="14" name="Hộp Văn bản 13">
            <a:extLst>
              <a:ext uri="{FF2B5EF4-FFF2-40B4-BE49-F238E27FC236}">
                <a16:creationId xmlns:a16="http://schemas.microsoft.com/office/drawing/2014/main" id="{4DEACCD6-897B-B553-2D89-D4C1AA046CA1}"/>
              </a:ext>
            </a:extLst>
          </p:cNvPr>
          <p:cNvSpPr txBox="1"/>
          <p:nvPr/>
        </p:nvSpPr>
        <p:spPr>
          <a:xfrm>
            <a:off x="0" y="2440173"/>
            <a:ext cx="4849792" cy="369332"/>
          </a:xfrm>
          <a:prstGeom prst="rect">
            <a:avLst/>
          </a:prstGeom>
          <a:noFill/>
        </p:spPr>
        <p:txBody>
          <a:bodyPr wrap="square" rtlCol="0">
            <a:spAutoFit/>
          </a:bodyPr>
          <a:lstStyle/>
          <a:p>
            <a:r>
              <a:rPr lang="en-US"/>
              <a:t>2. Phát triển Module Thống kê &amp; Báo cáo</a:t>
            </a:r>
          </a:p>
        </p:txBody>
      </p:sp>
      <p:sp>
        <p:nvSpPr>
          <p:cNvPr id="15" name="Hộp Văn bản 14">
            <a:extLst>
              <a:ext uri="{FF2B5EF4-FFF2-40B4-BE49-F238E27FC236}">
                <a16:creationId xmlns:a16="http://schemas.microsoft.com/office/drawing/2014/main" id="{18085CA4-4A8B-C9B1-B43B-0B308D02D2CE}"/>
              </a:ext>
            </a:extLst>
          </p:cNvPr>
          <p:cNvSpPr txBox="1"/>
          <p:nvPr/>
        </p:nvSpPr>
        <p:spPr>
          <a:xfrm>
            <a:off x="219920" y="2993495"/>
            <a:ext cx="6643866" cy="1077218"/>
          </a:xfrm>
          <a:prstGeom prst="rect">
            <a:avLst/>
          </a:prstGeom>
          <a:noFill/>
        </p:spPr>
        <p:txBody>
          <a:bodyPr wrap="square" rtlCol="0">
            <a:spAutoFit/>
          </a:bodyPr>
          <a:lstStyle/>
          <a:p>
            <a:r>
              <a:rPr lang="en-US" sz="1600"/>
              <a:t>Xây dựng thêm chức năng thống kê tổng giá trị nhập và xuất kho theo từng khoảng thời gian cụ thể</a:t>
            </a:r>
          </a:p>
          <a:p>
            <a:r>
              <a:rPr lang="en-US" sz="1600"/>
              <a:t>Bổ sung tính năng cảnh báo tự động khi số lượng tồn kho của vật tư xuống mức thấp</a:t>
            </a:r>
          </a:p>
        </p:txBody>
      </p:sp>
      <p:sp>
        <p:nvSpPr>
          <p:cNvPr id="16" name="Hộp Văn bản 15">
            <a:extLst>
              <a:ext uri="{FF2B5EF4-FFF2-40B4-BE49-F238E27FC236}">
                <a16:creationId xmlns:a16="http://schemas.microsoft.com/office/drawing/2014/main" id="{72421998-0DA2-99C5-66F8-9104AEAC1E90}"/>
              </a:ext>
            </a:extLst>
          </p:cNvPr>
          <p:cNvSpPr txBox="1"/>
          <p:nvPr/>
        </p:nvSpPr>
        <p:spPr>
          <a:xfrm>
            <a:off x="0" y="4254703"/>
            <a:ext cx="4618298" cy="369332"/>
          </a:xfrm>
          <a:prstGeom prst="rect">
            <a:avLst/>
          </a:prstGeom>
          <a:noFill/>
        </p:spPr>
        <p:txBody>
          <a:bodyPr wrap="square" rtlCol="0">
            <a:spAutoFit/>
          </a:bodyPr>
          <a:lstStyle/>
          <a:p>
            <a:r>
              <a:rPr lang="en-US"/>
              <a:t>3. Nâng cấp cơ sở hạ tầng lưu trữ </a:t>
            </a:r>
          </a:p>
        </p:txBody>
      </p:sp>
      <p:sp>
        <p:nvSpPr>
          <p:cNvPr id="17" name="Hộp Văn bản 16">
            <a:extLst>
              <a:ext uri="{FF2B5EF4-FFF2-40B4-BE49-F238E27FC236}">
                <a16:creationId xmlns:a16="http://schemas.microsoft.com/office/drawing/2014/main" id="{E63D2856-AF6B-62BA-DDE7-40D3034D6ED8}"/>
              </a:ext>
            </a:extLst>
          </p:cNvPr>
          <p:cNvSpPr txBox="1"/>
          <p:nvPr/>
        </p:nvSpPr>
        <p:spPr>
          <a:xfrm>
            <a:off x="219920" y="4808025"/>
            <a:ext cx="6643866" cy="584775"/>
          </a:xfrm>
          <a:prstGeom prst="rect">
            <a:avLst/>
          </a:prstGeom>
          <a:noFill/>
        </p:spPr>
        <p:txBody>
          <a:bodyPr wrap="square" rtlCol="0">
            <a:spAutoFit/>
          </a:bodyPr>
          <a:lstStyle/>
          <a:p>
            <a:r>
              <a:rPr lang="en-US" sz="1600"/>
              <a:t>Chuyển lưu trữ từ file text sang cơ sở dữ liệu quan hệ (SQLite) để hỗ trợ truy vấn phức tạp hơn và nhiều người dùng truy cập đồng thời</a:t>
            </a:r>
          </a:p>
        </p:txBody>
      </p:sp>
      <p:pic>
        <p:nvPicPr>
          <p:cNvPr id="18" name="Hình ảnh 17">
            <a:extLst>
              <a:ext uri="{FF2B5EF4-FFF2-40B4-BE49-F238E27FC236}">
                <a16:creationId xmlns:a16="http://schemas.microsoft.com/office/drawing/2014/main" id="{852ED576-A701-9F0C-8238-FDBB157D87EC}"/>
              </a:ext>
            </a:extLst>
          </p:cNvPr>
          <p:cNvPicPr>
            <a:picLocks noChangeAspect="1"/>
          </p:cNvPicPr>
          <p:nvPr/>
        </p:nvPicPr>
        <p:blipFill>
          <a:blip r:embed="rId2"/>
          <a:stretch>
            <a:fillRect/>
          </a:stretch>
        </p:blipFill>
        <p:spPr>
          <a:xfrm>
            <a:off x="8292776" y="1482663"/>
            <a:ext cx="3700283" cy="2083745"/>
          </a:xfrm>
          <a:prstGeom prst="rect">
            <a:avLst/>
          </a:prstGeom>
        </p:spPr>
      </p:pic>
      <p:pic>
        <p:nvPicPr>
          <p:cNvPr id="19" name="Hình ảnh 18">
            <a:extLst>
              <a:ext uri="{FF2B5EF4-FFF2-40B4-BE49-F238E27FC236}">
                <a16:creationId xmlns:a16="http://schemas.microsoft.com/office/drawing/2014/main" id="{490D051B-CBD7-DF25-EEB8-01B978AB0255}"/>
              </a:ext>
            </a:extLst>
          </p:cNvPr>
          <p:cNvPicPr>
            <a:picLocks noChangeAspect="1"/>
          </p:cNvPicPr>
          <p:nvPr/>
        </p:nvPicPr>
        <p:blipFill>
          <a:blip r:embed="rId3"/>
          <a:stretch>
            <a:fillRect/>
          </a:stretch>
        </p:blipFill>
        <p:spPr>
          <a:xfrm>
            <a:off x="7167265" y="4070713"/>
            <a:ext cx="4034858" cy="2429881"/>
          </a:xfrm>
          <a:prstGeom prst="rect">
            <a:avLst/>
          </a:prstGeom>
        </p:spPr>
      </p:pic>
    </p:spTree>
    <p:extLst>
      <p:ext uri="{BB962C8B-B14F-4D97-AF65-F5344CB8AC3E}">
        <p14:creationId xmlns:p14="http://schemas.microsoft.com/office/powerpoint/2010/main" val="2160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fade">
                                      <p:cBhvr>
                                        <p:cTn id="14" dur="1000"/>
                                        <p:tgtEl>
                                          <p:spTgt spid="13">
                                            <p:txEl>
                                              <p:pRg st="0" end="0"/>
                                            </p:txEl>
                                          </p:spTgt>
                                        </p:tgtEl>
                                      </p:cBhvr>
                                    </p:animEffect>
                                    <p:anim calcmode="lin" valueType="num">
                                      <p:cBhvr>
                                        <p:cTn id="15"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1+#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1+#ppt_w/2"/>
                                          </p:val>
                                        </p:tav>
                                        <p:tav tm="100000">
                                          <p:val>
                                            <p:strVal val="#ppt_x"/>
                                          </p:val>
                                        </p:tav>
                                      </p:tavLst>
                                    </p:anim>
                                    <p:anim calcmode="lin" valueType="num">
                                      <p:cBhvr additive="base">
                                        <p:cTn id="49"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7">
                                            <p:txEl>
                                              <p:pRg st="0" end="0"/>
                                            </p:txEl>
                                          </p:spTgt>
                                        </p:tgtEl>
                                        <p:attrNameLst>
                                          <p:attrName>style.visibility</p:attrName>
                                        </p:attrNameLst>
                                      </p:cBhvr>
                                      <p:to>
                                        <p:strVal val="visible"/>
                                      </p:to>
                                    </p:set>
                                    <p:animEffect transition="in" filter="fade">
                                      <p:cBhvr>
                                        <p:cTn id="54" dur="1000"/>
                                        <p:tgtEl>
                                          <p:spTgt spid="17">
                                            <p:txEl>
                                              <p:pRg st="0" end="0"/>
                                            </p:txEl>
                                          </p:spTgt>
                                        </p:tgtEl>
                                      </p:cBhvr>
                                    </p:animEffect>
                                    <p:anim calcmode="lin" valueType="num">
                                      <p:cBhvr>
                                        <p:cTn id="55"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56"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Hình ảnh 5">
            <a:extLst>
              <a:ext uri="{FF2B5EF4-FFF2-40B4-BE49-F238E27FC236}">
                <a16:creationId xmlns:a16="http://schemas.microsoft.com/office/drawing/2014/main" id="{24A690D7-85AA-086E-F105-B6CE64F0CB02}"/>
              </a:ext>
            </a:extLst>
          </p:cNvPr>
          <p:cNvPicPr>
            <a:picLocks noChangeAspect="1"/>
          </p:cNvPicPr>
          <p:nvPr/>
        </p:nvPicPr>
        <p:blipFill>
          <a:blip r:embed="rId2"/>
          <a:stretch>
            <a:fillRect/>
          </a:stretch>
        </p:blipFill>
        <p:spPr>
          <a:xfrm>
            <a:off x="0" y="3979"/>
            <a:ext cx="12462719" cy="7010279"/>
          </a:xfrm>
          <a:prstGeom prst="rect">
            <a:avLst/>
          </a:prstGeom>
        </p:spPr>
      </p:pic>
    </p:spTree>
    <p:extLst>
      <p:ext uri="{BB962C8B-B14F-4D97-AF65-F5344CB8AC3E}">
        <p14:creationId xmlns:p14="http://schemas.microsoft.com/office/powerpoint/2010/main" val="2299988127"/>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939</Words>
  <Application>Microsoft Office PowerPoint</Application>
  <PresentationFormat>Màn hình rộng</PresentationFormat>
  <Paragraphs>98</Paragraphs>
  <Slides>13</Slides>
  <Notes>1</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13</vt:i4>
      </vt:variant>
    </vt:vector>
  </HeadingPairs>
  <TitlesOfParts>
    <vt:vector size="20" baseType="lpstr">
      <vt:lpstr>Aptos</vt:lpstr>
      <vt:lpstr>Aptos Black</vt:lpstr>
      <vt:lpstr>Aptos Display</vt:lpstr>
      <vt:lpstr>Arial</vt:lpstr>
      <vt:lpstr>Cascadia Code</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thanh</dc:creator>
  <cp:lastModifiedBy>nguyễn thanh</cp:lastModifiedBy>
  <cp:revision>7</cp:revision>
  <dcterms:created xsi:type="dcterms:W3CDTF">2026-10-19T09:39:23Z</dcterms:created>
  <dcterms:modified xsi:type="dcterms:W3CDTF">2026-10-21T10:13:14Z</dcterms:modified>
</cp:coreProperties>
</file>